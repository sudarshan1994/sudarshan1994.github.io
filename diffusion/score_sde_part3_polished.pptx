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slide" Target="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slide" Target="slide7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0.png"/><Relationship Id="rId4" Type="http://schemas.openxmlformats.org/officeDocument/2006/relationships/slide" Target="slide3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slide" Target="slide3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slide" Target="slide3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0.png"/><Relationship Id="rId4" Type="http://schemas.openxmlformats.org/officeDocument/2006/relationships/slide" Target="slide1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slide" Target="slide5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slide" Target="slide5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slide" Target="slide3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slide" Target="slide39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 spc="300">
                <a:solidFill>
                  <a:srgbClr val="5B5BD6"/>
                </a:solidFill>
                <a:latin typeface="Arial"/>
              </a:rPr>
              <a:t>SCORE-BASED GENERATIVE MODELING  ·  PART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057400"/>
            <a:ext cx="12191695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1B1F2A"/>
                </a:solidFill>
                <a:latin typeface="Georgia"/>
              </a:rPr>
              <a:t>Generative Modeling via SDEs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5B5BD6"/>
                </a:solidFill>
                <a:latin typeface="Arial"/>
              </a:rPr>
              <a:t>From DDPM &amp; SMLD to a Continuous-Time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13048" y="4434840"/>
            <a:ext cx="4572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0dd33d7cdd76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352" y="4716463"/>
            <a:ext cx="3730990" cy="351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 spc="100">
                <a:solidFill>
                  <a:srgbClr val="8A909C"/>
                </a:solidFill>
                <a:latin typeface="Arial"/>
              </a:rP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533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29844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Unifying SMLD &amp; DDPM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50" b="0" i="0">
                <a:solidFill>
                  <a:srgbClr val="3C4351"/>
                </a:solidFill>
                <a:latin typeface="Arial"/>
              </a:rPr>
              <a:t>The corrupt-then-reverse paradigm — both are score-based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202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865376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Why an SDE Framework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50" b="0" i="0">
                <a:solidFill>
                  <a:srgbClr val="3C4351"/>
                </a:solidFill>
                <a:latin typeface="Arial"/>
              </a:rPr>
              <a:t>Flexible sampling, better samplers &amp; likelihoods, controllable generation.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871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8716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432304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Forward &amp; Reverse SDEs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50" b="0" i="0">
                <a:solidFill>
                  <a:srgbClr val="3C4351"/>
                </a:solidFill>
                <a:latin typeface="Arial"/>
              </a:rPr>
              <a:t>The core objects: diffusing data into noise and reversing with the score.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5409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5409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999232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Deriving SDEs from Discrete Limits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50" b="0" i="0">
                <a:solidFill>
                  <a:srgbClr val="3C4351"/>
                </a:solidFill>
                <a:latin typeface="Arial"/>
              </a:rPr>
              <a:t>VP from DDPM, VE from the SMLD noise ladder.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2102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210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566160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The VP SDE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50" b="0" i="0">
                <a:solidFill>
                  <a:srgbClr val="3C4351"/>
                </a:solidFill>
                <a:latin typeface="Arial"/>
              </a:rPr>
              <a:t>Variance-preserving diffusion — the continuous analog of DDPM.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8795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8795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4133088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The VE SDE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50" b="0" i="0">
                <a:solidFill>
                  <a:srgbClr val="3C4351"/>
                </a:solidFill>
                <a:latin typeface="Arial"/>
              </a:rPr>
              <a:t>Variance-exploding diffusion — the continuous analog of SMLD.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548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4700016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Probability Flow ODE &amp; the Unified Landscape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50" b="0" i="0">
                <a:solidFill>
                  <a:srgbClr val="3C4351"/>
                </a:solidFill>
                <a:latin typeface="Arial"/>
              </a:rPr>
              <a:t>Deterministic sampling, exact likelihoods, one model many solvers.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218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32180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5266944"/>
            <a:ext cx="103327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Experimental Results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150" b="0" i="0">
                <a:solidFill>
                  <a:srgbClr val="3C4351"/>
                </a:solidFill>
                <a:latin typeface="Arial"/>
              </a:rPr>
              <a:t>CIFAR-10 — sampler comparison, exact likelihoods, and SOTA sample quality.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943600"/>
            <a:ext cx="11064240" cy="4572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5943600"/>
            <a:ext cx="1033271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/>
              </a:rPr>
              <a:t>Central object: the score ∇ₓ log pₜ(x) ties every method together.   ·   Appendix: full VP α/σ derivation.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02 / 74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Unifying SMLD &amp; DDPM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E2E2FB"/>
                </a:solidFill>
                <a:latin typeface="Arial"/>
              </a:rPr>
              <a:t>The corrupt-then-reverse paradigm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SMLD   ·   DDPM   ·   The unifying insight   ·   The score function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"Corrupt Then Reverse"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3C4351"/>
                </a:solidFill>
                <a:latin typeface="Arial"/>
              </a:rPr>
              <a:t>The unifying intuition behind SMLD, DDPM, and the SDE framework.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2082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1 · SEQUENTIALLY CORRUPT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86584"/>
            <a:ext cx="104790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Slowly inject noise to transform the complex data distribution into a tractable prior (e.g., a Gaussian).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56616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80390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2 · LEARN TO REVERSE THE CORRUPTION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169663"/>
            <a:ext cx="1047902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Train a model to undo the noise step-by-step, transforming the prior back into new data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34924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349240"/>
            <a:ext cx="103327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Corrupt forward into noise  →  learn the reverse  →  generate.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04 / 74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SMLD: Score Matching with Langevin Dynamics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4864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3794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TRAINING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203704"/>
            <a:ext cx="4901184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Perturb data with a discrete ladder of noise scales: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σ₁ &lt; σ₂ &lt; … &lt; σₖ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C4351"/>
                </a:solidFill>
                <a:latin typeface="Arial"/>
              </a:rPr>
              <a:t>Estimate the score at each scale via denoising score matching: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sθ(x, σ) ≈ ∇ₓ log pσ(x)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00200"/>
            <a:ext cx="53949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37943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GENERATION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03704"/>
            <a:ext cx="4809744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Run Annealed Langevin Dynamics.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C4351"/>
                </a:solidFill>
                <a:latin typeface="Arial"/>
              </a:rPr>
              <a:t>Step through decreasing noise scales from noise to data: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σₖ → σₖ₋₁ → … → σ₁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C4351"/>
                </a:solidFill>
                <a:latin typeface="Arial"/>
              </a:rPr>
              <a:t>At each scale, take Langevin MCMC steps guided by the estimated score toward high-density regions.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Song &amp; Ermon, 2019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05 / 74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DDPM: Denoising Diffusion Probabilistic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4864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3794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TRAINING 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203704"/>
            <a:ext cx="4901184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C4351"/>
                </a:solidFill>
                <a:latin typeface="Arial"/>
              </a:rPr>
              <a:t>Define a fixed Markov chain that gradually adds Gaussian noise over K steps.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C4351"/>
                </a:solidFill>
                <a:latin typeface="Arial"/>
              </a:rPr>
              <a:t>Train a sequence of probabilistic reverse models step-by-step: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pθ(xₜ₋₁ | xₜ)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C4351"/>
                </a:solidFill>
                <a:latin typeface="Arial"/>
              </a:rPr>
              <a:t>Tractable because the reverse conditionals have a known Gaussian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00200"/>
            <a:ext cx="539496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37943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GENERATION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03704"/>
            <a:ext cx="4809744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Start from pure Gaussian noise: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xₖ ~ N(0, I)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C4351"/>
                </a:solidFill>
                <a:latin typeface="Arial"/>
              </a:rPr>
              <a:t>Iteratively denoise the sample: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xₖ → xₖ₋₁ → … → x₀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C4351"/>
                </a:solidFill>
                <a:latin typeface="Arial"/>
              </a:rPr>
              <a:t>Each step removes a small amount of noise using the learned reverse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[2]  Sohl-Dickstein et al., 2015   ·   [3]  Ho et al., 2020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06 / 74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Unifying Viewpoint: Both Are Score-Based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3736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THE UNIFYING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1033271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In continuous state spaces, DDPM training implicitly computes scores at each noise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43200"/>
            <a:ext cx="110642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8094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WHY THEY ARE DEEPLY RELATED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346704"/>
            <a:ext cx="1047902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Both estimate scores (gradients of log-density) of intermediate noisy distributions.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Both use those estimated scores to guide a reverse denoising process.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Apparent differences (Markov chain vs. Langevin dynamics) are merely implementation details of the same underlying principle.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07 / 74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The Core Quantity: Scores Along the Corruption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8dd6c2eb79248a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215" y="1758379"/>
            <a:ext cx="1795264" cy="351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267712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The score of the marginal distribution pₜ(x) at time 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80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11810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DIRECTIONAL GUIDE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83864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Points toward regions of higher data density — the exact direction needed to denoise.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2880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311810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NORMALIZATION-FREE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483864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Estimated without knowing the intractable normalizing constant of pₜ(x).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2880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311810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TRACTABLE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3483864"/>
            <a:ext cx="29809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Denoising score matching is scalable and computationally efficient.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02920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029200"/>
            <a:ext cx="10332719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SMLD and DDPM are unified as score-based models — differing only in how they parameterize the noise process.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08 / 74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Why an SDE Framework?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E2E2FB"/>
                </a:solidFill>
                <a:latin typeface="Arial"/>
              </a:rPr>
              <a:t>Enabling new samplers and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Flexible sampling   ·   Better samplers &amp; likelihoods   ·   Controllable 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an SDE Framework?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81328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64208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PRIMARY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1033271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Extend score-based models by viewing them through stochastic differential equations.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74320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8094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01 · FLEXIBLE SAMPLING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346704"/>
            <a:ext cx="2980944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Any general-purpose SDE solver can integrate the reverse process — expanding the design space beyond fixed discrete samplers.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274320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298094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02 · BETTER SAMPLERS &amp; LIKELIHOODS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3346704"/>
            <a:ext cx="2980944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Unlocks Predictor–Corrector methods and the Probability Flow ODE, enabling exact likelihood computation.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274320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298094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03 · CONTROLLABLE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3346704"/>
            <a:ext cx="2980944" cy="1874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Condition on information not available during training (e.g., inpainting) without retraining the model.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10 / 74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Motivation (A): Flexible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188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3C4351"/>
                </a:solidFill>
                <a:latin typeface="Arial"/>
              </a:rPr>
              <a:t>Once posed as an SDE, the reverse process can be integrated by any general-purpose solver.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8308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208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SOLVER TOOLBOX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86584"/>
            <a:ext cx="490118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Euler–Maruyama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Milstein method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Stochastic Runge–Kutta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Predictor–Corrector methods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783080"/>
            <a:ext cx="53949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EXPANDED CAPABILITIES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86584"/>
            <a:ext cx="480974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This expands the design space beyond fixed K-step discrete samplers.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Trade off speed vs. accuracy using adaptive step sizes and error-control mechanisms.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02920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02920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Discrete DDPM and SMLD samplers become just two specific choices within a much larger space.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11 / 74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Motivation (B): Better Samplers &amp; Exact Likelihoods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92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PREDICTOR–CORRECTOR (PC)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490118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Combines a numerical SDE solver step (predictor) with a score-based MCMC step (corrector).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1" i="0">
                <a:solidFill>
                  <a:srgbClr val="1B1F2A"/>
                </a:solidFill>
                <a:latin typeface="Arial"/>
              </a:rPr>
              <a:t>Benefit: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Improved sample quality at the same computational budget.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5448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92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PROBABILITY FLOW 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57984"/>
            <a:ext cx="480974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A deterministic ODE that shares the same marginal distributions as the stochastic SDE.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1" i="0">
                <a:solidFill>
                  <a:srgbClr val="1B1F2A"/>
                </a:solidFill>
                <a:latin typeface="Arial"/>
              </a:rPr>
              <a:t>Benefit: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Fast adaptive sampling using black-box ODE solvers.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11064240" cy="128016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581144"/>
            <a:ext cx="91440" cy="1170431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526280"/>
            <a:ext cx="10497312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The Big Payoff — Exact Likelihood: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the ODE view computes the exact likelihood of data via the instantaneous change-of-variables formula — not directly available in the stochastic formulation.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12 / 74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Motivation (C): Controllable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188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3C4351"/>
                </a:solidFill>
                <a:latin typeface="Arial"/>
              </a:rPr>
              <a:t>Modulate generation by conditioning on new information — without retraining the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911095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MECHANISM:  BAYES' RULE ON SCORES</a:t>
            </a:r>
          </a:p>
        </p:txBody>
      </p:sp>
      <p:pic>
        <p:nvPicPr>
          <p:cNvPr id="8" name="Picture 7" descr="ec00e6eb0c686a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981" y="2238439"/>
            <a:ext cx="7233732" cy="3511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2542032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Conditional score  =  unconditional score (learned)  +  guidance term (estimated)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246120"/>
            <a:ext cx="1106424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483863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APPLICATIONS — FROM ONE UNCONDITIONAL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849624"/>
            <a:ext cx="10479024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400" b="1" i="0">
                <a:solidFill>
                  <a:srgbClr val="3C4351"/>
                </a:solidFill>
                <a:latin typeface="Arial"/>
              </a:rPr>
              <a:t>Image inpainting</a:t>
            </a:r>
            <a:r>
              <a:rPr sz="1400" b="1" i="0">
                <a:solidFill>
                  <a:srgbClr val="5B5BD6"/>
                </a:solidFill>
                <a:latin typeface="Arial"/>
              </a:rPr>
              <a:t>        •  </a:t>
            </a:r>
            <a:r>
              <a:rPr sz="1400" b="1" i="0">
                <a:solidFill>
                  <a:srgbClr val="3C4351"/>
                </a:solidFill>
                <a:latin typeface="Arial"/>
              </a:rPr>
              <a:t>Colorization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400" b="1" i="0">
                <a:solidFill>
                  <a:srgbClr val="3C4351"/>
                </a:solidFill>
                <a:latin typeface="Arial"/>
              </a:rPr>
              <a:t>Class-conditioning</a:t>
            </a:r>
            <a:r>
              <a:rPr sz="1400" b="1" i="0">
                <a:solidFill>
                  <a:srgbClr val="5B5BD6"/>
                </a:solidFill>
                <a:latin typeface="Arial"/>
              </a:rPr>
              <a:t>   •  </a:t>
            </a:r>
            <a:r>
              <a:rPr sz="1400" b="1" i="0">
                <a:solidFill>
                  <a:srgbClr val="3C4351"/>
                </a:solidFill>
                <a:latin typeface="Arial"/>
              </a:rPr>
              <a:t>Inverse problems (super-resolution)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13 / 74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From Discrete Noise Ladders to a Continuum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48640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92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DISCRETE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490118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B1F2A"/>
                </a:solidFill>
                <a:latin typeface="Arial"/>
              </a:rPr>
              <a:t>(σ₁, …, σₖ)  or  (β₁, …, βₖ)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SMLD and DDPM rely on a finite set of noise levels or steps.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54480"/>
            <a:ext cx="539496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92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THE CONTINUOUS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57984"/>
            <a:ext cx="480974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B1F2A"/>
                </a:solidFill>
                <a:latin typeface="Arial"/>
              </a:rPr>
              <a:t>{ pₜ }  for  t ∈ [0, 1]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Consider a continuum of distributions indexed by continuous time t.</a:t>
            </a:r>
          </a:p>
        </p:txBody>
      </p:sp>
      <p:pic>
        <p:nvPicPr>
          <p:cNvPr id="11" name="Picture 10" descr="grad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4572000"/>
            <a:ext cx="822960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11680" y="5120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C4351"/>
                </a:solidFill>
                <a:latin typeface="Arial"/>
              </a:rPr>
              <a:t>t = 0   ·   Data distribution  pdata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12064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3C4351"/>
                </a:solidFill>
                <a:latin typeface="Arial"/>
              </a:rPr>
              <a:t>t = 1   ·   Prior  N(0, 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14 / 74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Forward &amp; Reverse SDEs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E2E2FB"/>
                </a:solidFill>
                <a:latin typeface="Arial"/>
              </a:rPr>
              <a:t>The core objects of the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Forward SDE   ·   Reverse-time SDE   ·   PC samplers   ·   Probability Flow 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Core Idea: The Forward SDE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188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3C4351"/>
                </a:solidFill>
                <a:latin typeface="Arial"/>
              </a:rPr>
              <a:t>Diffusing data into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0dd33d7cdd76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352" y="1941259"/>
            <a:ext cx="3730990" cy="3511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496312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f(x,t): drift coefficient    ·    g(t): diffusion coefficient    ·    dw: Brownian motion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2004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43814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FIXED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803904"/>
            <a:ext cx="49011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Contains no trainable parameters. Prescribed by design to match a specific noise schedule.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32004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4381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DATA-INDEPENDENT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803904"/>
            <a:ext cx="48097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The process does not depend on the data distribution; it blindly adds noise.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16 / 74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Core Idea: The Reverse-Time SDE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188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3C4351"/>
                </a:solidFill>
                <a:latin typeface="Arial"/>
              </a:rPr>
              <a:t>For a forward SDE of the form on slide 16, the reverse is itself an SDE (Anderson, 1982).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393f0a1f82d2a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8716" y="1901755"/>
            <a:ext cx="7014262" cy="4301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496312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Same f and g as the forward SDE (slide 16) — to reverse it, we only need the score of the marginals.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821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8211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3127248"/>
            <a:ext cx="10332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Train Score Model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Train a time-dependent network via score matching:  sθ(x,t) ≈ ∇ₓ log pₜ(x).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877056"/>
            <a:ext cx="10332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Substitute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Plug the learned score sθ into the reverse-time SDE in place of the true score.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68172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8172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626864"/>
            <a:ext cx="103327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1F2A"/>
                </a:solidFill>
                <a:latin typeface="Arial"/>
              </a:rPr>
              <a:t>Integrate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Solve the SDE numerically from t=1 (noise) to t=0 (data) to generate samples.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04688"/>
            <a:ext cx="11064240" cy="566928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5559551"/>
            <a:ext cx="91440" cy="45720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5504688"/>
            <a:ext cx="104973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Derivation: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the reverse-time SDE is proved in Anderson (1982); see also Song et al. (2021), Appendix 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[4]  Anderson, 1982   ·   [6]  Song et al., 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17 / 74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Contribution #1: A Sampling Toolbox (PC Samplers)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92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490118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B1F2A"/>
                </a:solidFill>
                <a:latin typeface="Arial"/>
              </a:rPr>
              <a:t>Numerical SDE step.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Uses a standard solver (e.g., Euler–Maruyama) to estimate the sample at the next time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54480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92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THE CORRECTOR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57984"/>
            <a:ext cx="480974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B1F2A"/>
                </a:solidFill>
                <a:latin typeface="Arial"/>
              </a:rPr>
              <a:t>Score-based MCMC.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Runs Langevin dynamics or HMC to correct the marginal distribution and refine the sample.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4348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61772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THE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892040"/>
            <a:ext cx="10332719" cy="27431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Predictor + Corrector ⇒ higher sample quality at the same compute budget.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18 / 74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Contribution #2: The Probability Flow 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188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3C4351"/>
                </a:solidFill>
                <a:latin typeface="Arial"/>
              </a:rPr>
              <a:t>For the same forward SDE on slide 16: a deterministic ODE with the same marginals as the reverse SDE.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4592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1c216137e7961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126" y="1878895"/>
            <a:ext cx="5697442" cy="4301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2450592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Same f and g as the forward SDE (slide 16); note the factor of ½ on the score vs. the reverse SDE.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06324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30098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FAST ADAPTIVE SAMPLING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666744"/>
            <a:ext cx="298094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Use black-box ODE solvers (e.g., Dormand–Prince) with adaptive step sizes.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306324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330098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FLEXIBLE LATENT 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666744"/>
            <a:ext cx="298094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Deterministic encoding of data to noise — interpolation and manipulation in latent space.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82127" y="3063240"/>
            <a:ext cx="356616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330098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EXACT LIKELIHOODS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3666744"/>
            <a:ext cx="298094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Via the instantaneous change-of-variables formula, avoiding ELBO approximations.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504688"/>
            <a:ext cx="11064240" cy="566928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" y="5559551"/>
            <a:ext cx="91440" cy="45720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5504688"/>
            <a:ext cx="1049731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Derivation: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the probability-flow ODE is derived in Song et al. (2021), Appendix D.1, from the same forward SDE.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[6]  Song et al., 2021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19 / 74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37744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5B5BD6"/>
                </a:solidFill>
                <a:latin typeface="Arial"/>
              </a:rPr>
              <a:t>CONTRIBUTION #2 · INTUITION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585216"/>
            <a:ext cx="118872" cy="548640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12064"/>
            <a:ext cx="108813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Why It Works: Stay on the Forward Marginals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31673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3C4351"/>
                </a:solidFill>
                <a:latin typeface="Arial"/>
              </a:rPr>
              <a:t>The network gives the score at a point — reliable only where the distribution is correct.</a:t>
            </a:r>
          </a:p>
        </p:txBody>
      </p:sp>
      <p:pic>
        <p:nvPicPr>
          <p:cNvPr id="7" name="Picture 6" descr="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511" y="1554480"/>
            <a:ext cx="5376672" cy="1645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584448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822191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IT KNOWS THE SCORE, NOT THE DISTRIBUTION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187952"/>
            <a:ext cx="2980944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At a point x and time t the network returns the score — the local direction toward higher density. It was trained on samples from pₜ, so it is only accurate where pₜ has mass.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3584448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3822191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CORRECT IN → CORRECT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4187952"/>
            <a:ext cx="2980944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If the population at time t is distributed as pₜ, stepping every point along the score makes the next population correct too. Start from the right prior and correctness propagates down to the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3584448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3822191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OFF-DISTRIBUTION → IT BREAKS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4736" y="4187952"/>
            <a:ext cx="2980944" cy="914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If points drift off pₜ, the network is queried out-of-distribution and returns wrong scores, so errors compound. The one thing that matters: keep each intermediate marginal equal to the forward pₜ.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5468112"/>
            <a:ext cx="11064240" cy="877824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468112"/>
            <a:ext cx="10552176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At each time, match the reverse process's pₜ to the forward process's pₜ, so the network produces an accurate score.</a:t>
            </a:r>
          </a:p>
          <a:p>
            <a:pPr algn="ctr"/>
            <a:r>
              <a:rPr sz="1250" b="0" i="0">
                <a:solidFill>
                  <a:srgbClr val="DDE0FB"/>
                </a:solidFill>
                <a:latin typeface="Arial"/>
              </a:rPr>
              <a:t>Hence the probability-flow ODE (previous slide) — which maintains exactly these marginals — yields valid deterministic sampling.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[6]  Song et al., 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20 / 74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Contribution #3: A Unified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188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3C4351"/>
                </a:solidFill>
                <a:latin typeface="Arial"/>
              </a:rPr>
              <a:t>SMLD and DDPM as discretizations of two continuous-time SDEs.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97510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VE SDE  ·  VARIANCE EXPLODING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340864"/>
            <a:ext cx="10479024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5B5BD6"/>
                </a:solidFill>
                <a:latin typeface="Arial"/>
              </a:rPr>
              <a:t>SMLD  →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the variance of the process grows without bound as t → ∞.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5468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339242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VP SDE  ·  VARIANCE PRESERVING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758184"/>
            <a:ext cx="10479024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2A150"/>
                </a:solidFill>
                <a:latin typeface="Arial"/>
              </a:rPr>
              <a:t>DDPM  →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the variance is bounded (typically at 1) throughout the process.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663440"/>
            <a:ext cx="11064240" cy="118872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4718303"/>
            <a:ext cx="91440" cy="107899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4663440"/>
            <a:ext cx="1049731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Key implication: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the familiar discrete algorithms are not fundamentally different — they are two specific discretizations of two continuous-time SDEs within the same framework.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21 / 74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Roadmap: VP vs. VE and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179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1790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463040"/>
            <a:ext cx="10332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1F2A"/>
                </a:solidFill>
                <a:latin typeface="Arial"/>
              </a:rPr>
              <a:t>Choose Forward SDE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Select a noise process (e.g., VE, VP) to transform data into the prior.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311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31136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176272"/>
            <a:ext cx="10332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1F2A"/>
                </a:solidFill>
                <a:latin typeface="Arial"/>
              </a:rPr>
              <a:t>Learn Score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Train sθ(x,t) ≈ ∇ log pₜ(x) via score matching.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443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44368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889504"/>
            <a:ext cx="10332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B1F2A"/>
                </a:solidFill>
                <a:latin typeface="Arial"/>
              </a:rPr>
              <a:t>Sample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Integrate the reverse SDE or the probability-flow 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03320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9410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VP SDE  ·  VARIANCE PRESERVING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306824"/>
            <a:ext cx="4901184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A forward-SDE diffusion (noising) process.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C4351"/>
                </a:solidFill>
                <a:latin typeface="Arial"/>
              </a:rPr>
              <a:t>Shrinks the signal as it adds noise, so the total variance stays bounded (≈ 1).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→ The continuous analog of DDPM.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70332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941063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VE SDE  ·  VARIANCE EXPLODING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306824"/>
            <a:ext cx="4809744" cy="9601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A forward-SDE diffusion (noising) process.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0" i="0">
                <a:solidFill>
                  <a:srgbClr val="3C4351"/>
                </a:solidFill>
                <a:latin typeface="Arial"/>
              </a:rPr>
              <a:t>Keeps adding ever-larger noise with no signal decay, so the variance grows without bound.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00" b="1" i="0">
                <a:solidFill>
                  <a:srgbClr val="1B1F2A"/>
                </a:solidFill>
                <a:latin typeface="Arial"/>
              </a:rPr>
              <a:t>→ The continuous analog of SMLD.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715000"/>
            <a:ext cx="11064240" cy="5486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715000"/>
            <a:ext cx="103327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VP and VE are the two canonical SDE diffusion methods — forward processes that turn data into noise, differing only in how the variance behaves.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22 / 74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Deriving SDEs from Discrete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E2E2FB"/>
                </a:solidFill>
                <a:latin typeface="Arial"/>
              </a:rPr>
              <a:t>VP from DDPM · VE from the SMLD ladder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Taylor expansion   ·   Brownian increments   ·   Forward &amp; reverse SDEs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Goal: Derive Forward SDEs from Discrete Processes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4864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92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DDPM FORWARD CHAIN  →  VP SDE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4901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The variance-preserving limit of the discrete Gaussian 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54480"/>
            <a:ext cx="539496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92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SMLD NOISE LADDER  →  VE SDE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57984"/>
            <a:ext cx="48097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The variance-exploding limit of the discrete noise ladder.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00400"/>
            <a:ext cx="1106424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343814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803904"/>
            <a:ext cx="1047902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1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Rescale noise to make each step infinitesimal.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2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Write the increment  x(t+Δt) − x(t).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3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Take the limit  Δt → 0.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4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Identify the drift and diffusion terms.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24 / 74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VP: Start from the DDPM Forward 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b87c077966554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164" y="1746124"/>
            <a:ext cx="4569366" cy="4213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313432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where  zᵢ₋₁ ~ N(0, 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0175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2552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SCALING FOR N → 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21024"/>
            <a:ext cx="49011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1" i="0">
                <a:solidFill>
                  <a:srgbClr val="1B1F2A"/>
                </a:solidFill>
                <a:latin typeface="Arial"/>
              </a:rPr>
              <a:t>Define  β̄ᵢ = N·βᵢ.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This keeps the total noise variance over [0,1] finite as the number of steps increases.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0175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255263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TIME VARIABLES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621024"/>
            <a:ext cx="48097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1" i="0">
                <a:solidFill>
                  <a:srgbClr val="1B1F2A"/>
                </a:solidFill>
                <a:latin typeface="Arial"/>
              </a:rPr>
              <a:t>Let  t = i/N  and  Δt = 1/N.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Thus  βᵢ = β̄(t)·Δt.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25 / 74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Rewrite in Continuous-Time 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2194560"/>
            <a:ext cx="1106424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14f525547852a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924" y="2669668"/>
            <a:ext cx="8677845" cy="42138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402336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02336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Now we expand this for small Δt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26 / 74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Taylor Expand the Drift Term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007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APPROXIMATION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066544"/>
            <a:ext cx="1047902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Approximation: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√(1 − ε) ≈ 1 − ½ε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Apply to drift: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√(1 − β(t)Δt) ≈ 1 − ½β(t)Δt</a:t>
            </a:r>
          </a:p>
          <a:p>
            <a:pPr algn="l">
              <a:lnSpc>
                <a:spcPct val="122000"/>
              </a:lnSpc>
              <a:spcAft>
                <a:spcPts val="10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Substitute back: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x(t+Δt) ≈ (1 − ½β(t)Δt)·x(t) + √(β(t)Δt)·z(t)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749039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9a55d7974d5e1f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715" y="4163065"/>
            <a:ext cx="7510264" cy="4521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27 / 74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Identify the Brownian Increment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b5bbe9fcfd276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310" y="1896818"/>
            <a:ext cx="6347073" cy="41260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971800"/>
            <a:ext cx="11064240" cy="233172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17296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RESULTING VP FORWARD SDE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" y="3840480"/>
            <a:ext cx="10058400" cy="1188719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2b70b3feee4df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559" y="4208785"/>
            <a:ext cx="4564976" cy="4521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544068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09C"/>
                </a:solidFill>
                <a:latin typeface="Arial"/>
              </a:rPr>
              <a:t>Taking the limit Δt → 0 yields this linear SDE.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28 / 74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VE: Start from Incremental Variance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2821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SMLD GOAL</a:t>
            </a:r>
          </a:p>
        </p:txBody>
      </p:sp>
      <p:pic>
        <p:nvPicPr>
          <p:cNvPr id="7" name="Picture 6" descr="04b3aead6af948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160" y="2154317"/>
            <a:ext cx="2247373" cy="26336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2834640"/>
            <a:ext cx="1106424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723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MARKOV CHAIN CONSTRUCTION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38144"/>
            <a:ext cx="1047902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To satisfy the marginals, the incremental step must be:</a:t>
            </a:r>
          </a:p>
        </p:txBody>
      </p:sp>
      <p:pic>
        <p:nvPicPr>
          <p:cNvPr id="11" name="Picture 10" descr="b0416646f5f48f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0404" y="3846677"/>
            <a:ext cx="4270887" cy="6276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0" y="4663440"/>
            <a:ext cx="121916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8A909C"/>
                </a:solidFill>
                <a:latin typeface="Arial"/>
              </a:rPr>
              <a:t>zₖ ~ N(0, 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29 / 74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Take the Continuous-Time Limit for 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463040"/>
            <a:ext cx="110642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007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DERIVATION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066544"/>
            <a:ext cx="1047902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1 · Variance difference: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σ²(t+Δt) − σ²(t) ≈ d/dt[σ²(t)]·Δt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2 · Substitute into increment: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x(t+Δt) − x(t) = √( d/dt[σ²(t)]·Δt )·z(t)</a:t>
            </a:r>
          </a:p>
          <a:p>
            <a:pPr algn="l">
              <a:lnSpc>
                <a:spcPct val="122000"/>
              </a:lnSpc>
              <a:spcAft>
                <a:spcPts val="11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3 · Identify Brownian motion: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√Δt·z(t) = dwₜ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77639"/>
            <a:ext cx="11064240" cy="169164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178807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RESULTING VE FORWARD SDE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4846320"/>
            <a:ext cx="10058400" cy="548640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752b2429391bdc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0797" y="4983479"/>
            <a:ext cx="125650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30 / 74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Summary of Forward SDEs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2938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VP  (DDPM)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295144"/>
            <a:ext cx="490118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pic>
        <p:nvPicPr>
          <p:cNvPr id="8" name="Picture 7" descr="ee5eb3a1fb2ccc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39" y="2882905"/>
            <a:ext cx="4564976" cy="45210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45352" y="169164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293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VE  (SMLD)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295144"/>
            <a:ext cx="48097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pic>
        <p:nvPicPr>
          <p:cNvPr id="12" name="Picture 11" descr="88496fcc367da9e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825" y="2795117"/>
            <a:ext cx="2976013" cy="62768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66928" y="45262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526280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Both are linear Itô diffusions. The key difference is the presence of the drift term in VP.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31 / 74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Reverse-Time SDE (Anderson, 1982)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051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77393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FORWARD</a:t>
            </a:r>
          </a:p>
        </p:txBody>
      </p:sp>
      <p:pic>
        <p:nvPicPr>
          <p:cNvPr id="7" name="Picture 6" descr="15c2ee3ba62b12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874" y="2037271"/>
            <a:ext cx="3831947" cy="3511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283464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03580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REVERSE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69848" y="3703320"/>
            <a:ext cx="10058400" cy="685800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93900759263805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506" y="3840480"/>
            <a:ext cx="6571083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4892040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3C4351"/>
                </a:solidFill>
                <a:latin typeface="Arial"/>
              </a:rPr>
              <a:t>Reversal introduces an additional drift term, −g²(t)·score. This is why estimating the score lets us reverse the diffusion.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[4]  Anderson, 1982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32 / 74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Reverse SDE for 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188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B1F2A"/>
                </a:solidFill>
                <a:latin typeface="Arial"/>
              </a:rPr>
              <a:t>f(x,t) = −½β(t)x        g(t) = √β(t)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11064240" cy="210312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2140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RESULTING REVERSE VP SDE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9848" y="2788920"/>
            <a:ext cx="10058400" cy="960119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4a48f29170a14f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748" y="3042925"/>
            <a:ext cx="7040599" cy="45210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42976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297680"/>
            <a:ext cx="103327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Replace the unknown score ∇ log pₜ(x) with the trained network sθ(x,t).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33 / 74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Reverse SDE for 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188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B1F2A"/>
                </a:solidFill>
                <a:latin typeface="Arial"/>
              </a:rPr>
              <a:t>f(x,t) = 0        g(t) = √( d/dt[σ²(t)] 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20240"/>
            <a:ext cx="11064240" cy="210312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2140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RESULTING REVERSE VE SDE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9848" y="2788920"/>
            <a:ext cx="10058400" cy="960119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908362a4c93a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044" y="3053899"/>
            <a:ext cx="5298006" cy="43016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66928" y="4297680"/>
            <a:ext cx="11064240" cy="1097280"/>
          </a:xfrm>
          <a:prstGeom prst="roundRect">
            <a:avLst>
              <a:gd name="adj" fmla="val 7000"/>
            </a:avLst>
          </a:prstGeom>
          <a:solidFill>
            <a:srgbClr val="EB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4352544"/>
            <a:ext cx="91440" cy="987552"/>
          </a:xfrm>
          <a:prstGeom prst="roundRect">
            <a:avLst>
              <a:gd name="adj" fmla="val 50000"/>
            </a:avLst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297680"/>
            <a:ext cx="1049731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150"/>
                </a:solidFill>
                <a:latin typeface="Arial"/>
              </a:rPr>
              <a:t>Notice: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no anchor drift term (−½βx) here. The reverse process is driven purely by the score.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34 / 74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What We Achieved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486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92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FORWARD SDES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490118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VP derived from the DDPM limit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VE derived from the noise-ladder limit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5448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92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REVERSE SDES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57984"/>
            <a:ext cx="4809744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Obtained directly via Anderson's theorem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No posterior derivations required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• 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No discrete reverse conditionals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5262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526280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Sampling now reduces to a standard numerical problem: solving the reverse SDE.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35 / 74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The VP SDE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E2E2FB"/>
                </a:solidFill>
                <a:latin typeface="Arial"/>
              </a:rPr>
              <a:t>Variance-preserving diffusion — the continuous analog of DDPM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Bounded variance   ·   Closed-form marginals   ·   Reverse SDE   ·   DDPM samplers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VP SDE: Variance-Preserving Diffusion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91639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CORE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1033271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Variance stays bounded as time increases, preventing the signal scale from blowing 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974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35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300984"/>
            <a:ext cx="49011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Slowly attenuate the signal while injecting noise, so the total variance stays controlled (often ≈ 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6974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THE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300984"/>
            <a:ext cx="48097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The direct continuous-time analog of DDPM-style discrete noising schedules.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37 / 74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VP Forward SDE Definition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464040" y="5029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3" action="ppaction://hlinksldjump"/>
              </a:rPr>
              <a:t>Derived → slide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e5eb3a1fb2ccc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359" y="1922785"/>
            <a:ext cx="4564976" cy="4521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0632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30098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DRIFT TERM  ·  −½Β(T)X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66744"/>
            <a:ext cx="49011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Pulls the data toward 0, attenuating the signal to keep variance controlled.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0632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3009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DIFFUSION TERM  ·  √Β(T) DW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666744"/>
            <a:ext cx="48097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Injects noise at a rate set by the nonnegative schedule β(t).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38 / 74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VP: From SDE to Closed-Form Solution</a:t>
            </a:r>
          </a:p>
        </p:txBody>
      </p:sp>
      <p:sp>
        <p:nvSpPr>
          <p:cNvPr id="5" name="Rounded Rectangle 4">
            <a:hlinkClick action="ppaction://hlinksldjump" r:id="rId5"/>
          </p:cNvPr>
          <p:cNvSpPr/>
          <p:nvPr/>
        </p:nvSpPr>
        <p:spPr>
          <a:xfrm>
            <a:off x="9601200" y="502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5" action="ppaction://hlinksldjump"/>
              </a:rPr>
              <a:t>Full derivation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70432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3C4351"/>
                </a:solidFill>
                <a:latin typeface="Arial"/>
              </a:rPr>
              <a:t>The VP SDE is linear, so its transition kernel pₜ(x | x₀) is Gaussian — fixed entirely by a mean and a variance.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27632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865376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MEAN  ·  SIGNAL DECAY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31136"/>
            <a:ext cx="49011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C4351"/>
                </a:solidFill>
                <a:latin typeface="Arial"/>
              </a:rPr>
              <a:t>Drop the noise: the drift −½β(t)x only rescales the signal.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C4351"/>
                </a:solidFill>
                <a:latin typeface="Arial"/>
              </a:rPr>
              <a:t>Its integrating factor gives the signal's decay α(t):</a:t>
            </a:r>
          </a:p>
        </p:txBody>
      </p:sp>
      <p:pic>
        <p:nvPicPr>
          <p:cNvPr id="10" name="Picture 9" descr="c79479dc0836c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129" y="3008376"/>
            <a:ext cx="2943996" cy="60350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245352" y="1627632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6537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THE VARIANCE  ·  NOISE BUILD-UP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31136"/>
            <a:ext cx="48097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C4351"/>
                </a:solidFill>
                <a:latin typeface="Arial"/>
              </a:rPr>
              <a:t>Injected noise builds up as  dΣ/dt = −β(t)Σ + β(t),  from Σ(0)=0.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250" b="0" i="0">
                <a:solidFill>
                  <a:srgbClr val="3C4351"/>
                </a:solidFill>
                <a:latin typeface="Arial"/>
              </a:rPr>
              <a:t>Solving this linear ODE gives σ²(t):</a:t>
            </a:r>
          </a:p>
        </p:txBody>
      </p:sp>
      <p:pic>
        <p:nvPicPr>
          <p:cNvPr id="14" name="Picture 13" descr="5ade1ca778a633a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2348" y="3112604"/>
            <a:ext cx="2580967" cy="39504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66928" y="3886200"/>
            <a:ext cx="11064240" cy="178308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8736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eorgia"/>
              </a:rPr>
              <a:t>THE SAME PROCESS, IN CLOSED 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9848" y="4754880"/>
            <a:ext cx="10058400" cy="640080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310e94ba74fb406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2786" y="4899343"/>
            <a:ext cx="5912523" cy="3511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31520" y="5815584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3C4351"/>
                </a:solidFill>
                <a:latin typeface="Arial"/>
              </a:rPr>
              <a:t>Exactly the solution of the VP forward SDE — the differential equation and this closed form describe the same process, so you can jump to any time t in one step.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39 / 74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VP: Closed-Form Marginals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d875406040d4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842" y="2078419"/>
            <a:ext cx="5794009" cy="351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907791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α(t) = exp(−½∫β(s)ds)        σ²(t) = 1 − α²(t)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611880"/>
            <a:ext cx="11064240" cy="182880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3666744"/>
            <a:ext cx="91440" cy="171907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611880"/>
            <a:ext cx="10497312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Key property — Bounded Variance: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because α²(t) + σ²(t) = 1, the total variance of x(t) stays controlled (typically ≈ 1) throughout the process, preventing numerical instability.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40 / 74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VP: Score-Model Target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74c04468f99584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91" y="1881823"/>
            <a:ext cx="3349112" cy="3511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9718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20954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DIRECT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75304"/>
            <a:ext cx="49011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Train the network to output the score vector directly.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971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2095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NOISE 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575304"/>
            <a:ext cx="48097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Predict the noise εθ and convert:</a:t>
            </a:r>
          </a:p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1B1F2A"/>
                </a:solidFill>
                <a:latin typeface="Arial"/>
              </a:rPr>
              <a:t>sθ = −εθ / σ(t)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9834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83480"/>
            <a:ext cx="103327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DDPM's noise-prediction is essentially a reparameterization of the score in this Gaussian setting.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41 / 74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VP: Reverse-Time SDE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9464040" y="5029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4" action="ppaction://hlinksldjump"/>
              </a:rPr>
              <a:t>Derived → slide 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11064240" cy="1325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GENERAL REVERSE TEMPLATE</a:t>
            </a:r>
          </a:p>
        </p:txBody>
      </p:sp>
      <p:pic>
        <p:nvPicPr>
          <p:cNvPr id="8" name="Picture 7" descr="e63469103df5db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19" y="2070919"/>
            <a:ext cx="6768456" cy="43016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" y="2926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3C4351"/>
                </a:solidFill>
                <a:latin typeface="Arial"/>
              </a:rPr>
              <a:t>For VP:   f(x,t) = −½β(t)x        g(t) = √β(t)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429000"/>
            <a:ext cx="11064240" cy="1874519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63016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RESULTING REVERSE VP SDE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9848" y="4297680"/>
            <a:ext cx="10058400" cy="731519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4a48f29170a14f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748" y="4437385"/>
            <a:ext cx="7040599" cy="4521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42 / 74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VP: Discretizations &amp; DDPM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08760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Discretize the VP reverse process with a specific timestep rule, and you recover DDPM-like samplers.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97480"/>
            <a:ext cx="54864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35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ANCESTRAL 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300984"/>
            <a:ext cx="490118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Corresponds to using the reverse conditional Gaussian p(xₜ₋₁|xₜ) at each step — the standard DDPM sampler.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697480"/>
            <a:ext cx="5394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SOLVER FLEXIBILITY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300984"/>
            <a:ext cx="4809744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Different discretizations (Euler–Maruyama, higher-order methods) yield different algorithms from the same model.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43 / 74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VP: Sampling in Practice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92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SCHEDULE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490118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Performance depends heavily on a good β(t) schedule. Cosine schedules often outperform linear ones by preserving signal longer.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54480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92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DISCRETIZATION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57984"/>
            <a:ext cx="4809744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Deterministic variants like DDIM are possible via the ODE view, offering faster sampling.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4348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434840"/>
            <a:ext cx="103327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Empirically, VP/DDPM gives strong perceptual quality with standard architectures and samplers.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44 / 74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VP SDE: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55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550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600200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Forward Process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Bounded variance, linear drift to 0, plus diffusion.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1518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151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560320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Training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Estimate the time-dependent score (or noise).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75303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7530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520439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Sampling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Integrate the reverse SDE (stochastic) or the probability-flow ODE (deterministic).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3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354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480559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Connection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Discretizations connect directly to the DDPM family.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45 / 74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The VE SDE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E2E2FB"/>
                </a:solidFill>
                <a:latin typeface="Arial"/>
              </a:rPr>
              <a:t>Variance-exploding diffusion — the continuous analog of SMLD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Exploding variance   ·   DSM   ·   Reverse SDE   ·   Predictor–Corrector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VE SDE: Variance-Exploding Diffusion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691639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CORE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10332719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Noise scale grows dramatically with time — the variance 'explodes'.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97480"/>
            <a:ext cx="548640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35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300984"/>
            <a:ext cx="490118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Instead of damping the signal, simply add more and more noise until the distribution is effectively pure Gaussian.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2697480"/>
            <a:ext cx="53949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THE CONNECTION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300984"/>
            <a:ext cx="480974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Matches the noise-level ladder intuition in SMLD (Song &amp; Ermon, 2019).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[1]  Song &amp; Ermon, 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47 / 74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VE Forward SDE Definition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464040" y="5029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3" action="ppaction://hlinksldjump"/>
              </a:rPr>
              <a:t>Derived → slide 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1064240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46ea67571f6e96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338" y="1950403"/>
            <a:ext cx="2063018" cy="35115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301752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25526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PURE DIFFUSION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621024"/>
            <a:ext cx="49011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No drift term. The process is driven purely by Brownian motion scaled by g(t).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01752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3255263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NOISE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621024"/>
            <a:ext cx="48097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g(t) is chosen so the noise standard deviation increases from σₘᵢₙ to σₘₐₓ.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48 / 74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VE: Closed-Form Marginals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0850a307a1df48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490" y="1872679"/>
            <a:ext cx="5170714" cy="3511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450591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Pure diffusion: data convolved with Gaussian noise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246120"/>
            <a:ext cx="11064240" cy="1737360"/>
          </a:xfrm>
          <a:prstGeom prst="roundRect">
            <a:avLst>
              <a:gd name="adj" fmla="val 7000"/>
            </a:avLst>
          </a:prstGeom>
          <a:solidFill>
            <a:srgbClr val="EB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3300984"/>
            <a:ext cx="91440" cy="1627631"/>
          </a:xfrm>
          <a:prstGeom prst="roundRect">
            <a:avLst>
              <a:gd name="adj" fmla="val 50000"/>
            </a:avLst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246120"/>
            <a:ext cx="10497312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150"/>
                </a:solidFill>
                <a:latin typeface="Arial"/>
              </a:rPr>
              <a:t>Connection to SMLD: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this is exactly the object SMLD trains on — scores of Gaussian-smoothed densities across a range of noise levels σ(t).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49 / 74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VE: Score Model &amp; DSM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74c04468f99584a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91" y="1881823"/>
            <a:ext cx="3349112" cy="35115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297180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20954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CONTINUUM OF SIGMAS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75304"/>
            <a:ext cx="490118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Corresponds to Denoising Score Matching (DSM) across a continuous range of noise scales.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97180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20954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SMLD CONNECTION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575304"/>
            <a:ext cx="48097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SMLD's 'discrete sigmas + Langevin per sigma' is simply a discretized version of this continuous-time 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9834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983480"/>
            <a:ext cx="103327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We learn the gradient of the log-density for every noise level in the explosion process.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50 / 74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VE: Reverse-Time SDE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464040" y="50292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3" action="ppaction://hlinksldjump"/>
              </a:rPr>
              <a:t>Derived → slide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B1F2A"/>
                </a:solidFill>
                <a:latin typeface="Arial"/>
              </a:rPr>
              <a:t>Forward parameters:   f(x,t) = 0        g(t) = chosen schedule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11064240" cy="210312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RESULTING REVERSE VE SDE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" y="2788920"/>
            <a:ext cx="10058400" cy="960119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9908362a4c93a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0044" y="3053899"/>
            <a:ext cx="5298006" cy="43016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297680"/>
            <a:ext cx="11064240" cy="1097280"/>
          </a:xfrm>
          <a:prstGeom prst="roundRect">
            <a:avLst>
              <a:gd name="adj" fmla="val 7000"/>
            </a:avLst>
          </a:prstGeom>
          <a:solidFill>
            <a:srgbClr val="EB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352544"/>
            <a:ext cx="91440" cy="987552"/>
          </a:xfrm>
          <a:prstGeom prst="roundRect">
            <a:avLst>
              <a:gd name="adj" fmla="val 50000"/>
            </a:avLst>
          </a:prstGeom>
          <a:solidFill>
            <a:srgbClr val="12A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297680"/>
            <a:ext cx="10497312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2A150"/>
                </a:solidFill>
                <a:latin typeface="Arial"/>
              </a:rPr>
              <a:t>Compare to VP: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no anchor-drift term (−½βx) here. The drift is purely score-driven.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51 / 74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VE: Discretizations &amp; SMLD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08760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The SMLD sampler is essentially a specific Predictor–Corrector discretization of the VE SDE.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9748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935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PREDICTOR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300984"/>
            <a:ext cx="49011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A standard numerical SDE solver step (e.g., Euler–Maruyama) moves the sample backward in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26974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935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CORRECTOR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300984"/>
            <a:ext cx="48097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Langevin MCMC steps (at fixed time t) correct the sample to match the marginal pₜ(x).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892040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892040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Result: recovering SMLD-style annealed Langevin dynamics.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52 / 74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VE: Practical Sampling — Why PC Shines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9222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104790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Step forward —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makes progress along time, solving the reverse SDE.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26080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16382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CORRECTOR  (LANGEVIN)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529584"/>
            <a:ext cx="1047902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1" i="0">
                <a:solidFill>
                  <a:srgbClr val="5B5BD6"/>
                </a:solidFill>
                <a:latin typeface="Arial"/>
              </a:rPr>
              <a:t>Re-equilibrate —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pulls the sample toward the marginal pₜ(x) at the current noise level.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389120"/>
            <a:ext cx="11064240" cy="1417320"/>
          </a:xfrm>
          <a:prstGeom prst="roundRect">
            <a:avLst>
              <a:gd name="adj" fmla="val 7000"/>
            </a:avLst>
          </a:prstGeom>
          <a:solidFill>
            <a:srgbClr val="FB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4443983"/>
            <a:ext cx="91440" cy="1307592"/>
          </a:xfrm>
          <a:prstGeom prst="roundRect">
            <a:avLst>
              <a:gd name="adj" fmla="val 50000"/>
            </a:avLst>
          </a:prstGeom>
          <a:solidFill>
            <a:srgbClr val="D98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389120"/>
            <a:ext cx="10497312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D9890B"/>
                </a:solidFill>
                <a:latin typeface="Arial"/>
              </a:rPr>
              <a:t>Why it matters: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with large noise scales the score landscape changes rapidly; the corrector stabilizes the trajectory by pulling samples back to the high-probability manifold.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53 / 74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VE SDE: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550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550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1600200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Forward Process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Pure diffusion; noise std increases from σ_min → σ_max.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1518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151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560320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Training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Scores of Gaussian-smoothed densities (DSM).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75303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7530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520439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Sampling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Reverse SDE, often with Predictor–Corrector steps.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35423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535423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4480559"/>
            <a:ext cx="103327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B1F2A"/>
                </a:solidFill>
                <a:latin typeface="Arial"/>
              </a:rPr>
              <a:t>Connection</a:t>
            </a:r>
          </a:p>
          <a:p>
            <a:pPr algn="l">
              <a:lnSpc>
                <a:spcPct val="110000"/>
              </a:lnSpc>
              <a:spcBef>
                <a:spcPts val="200"/>
              </a:spcBef>
            </a:pPr>
            <a:r>
              <a:rPr sz="1250" b="0" i="0">
                <a:solidFill>
                  <a:srgbClr val="3C4351"/>
                </a:solidFill>
                <a:latin typeface="Arial"/>
              </a:rPr>
              <a:t>Discretizations connect directly to the SMLD family.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54 / 74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Probability Flow ODE &amp; the Unified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E2E2FB"/>
                </a:solidFill>
                <a:latin typeface="Arial"/>
              </a:rPr>
              <a:t>Deterministic sampling, exact likelihoods, one model — many solvers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Probability Flow ODE   ·   Matching marginals   ·   SDE vs ODE   ·   The bridge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Probability Flow: Why?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0876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508760"/>
            <a:ext cx="103327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With the same learned score sθ(x,t), we can define deterministic dynamics.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6517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88950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DETERMINISM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255264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Avoids sampling noise. Given an initial noise vector, the output is fixed.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26517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7136" y="288950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ADAPTIVE SOLVERS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7136" y="3255264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Enables black-box ODE solvers (RK45, etc.) for error control and speed.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82127" y="265176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288950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EXACT LIKELIHOODS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3255264"/>
            <a:ext cx="29809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A clean route to log-likelihoods via the change-of-variables formula.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56 / 74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Probability Flow ODE Definition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9189720" y="502920"/>
            <a:ext cx="24231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4" action="ppaction://hlinksldjump"/>
              </a:rPr>
              <a:t>Introduced → slide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6304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82496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GIVEN FORWARD SDE</a:t>
            </a:r>
          </a:p>
        </p:txBody>
      </p:sp>
      <p:pic>
        <p:nvPicPr>
          <p:cNvPr id="8" name="Picture 7" descr="15c2ee3ba62b12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874" y="1881823"/>
            <a:ext cx="3831947" cy="3511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265176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5292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PROBABILITY FLOW 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9848" y="3520439"/>
            <a:ext cx="10058400" cy="685800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3bd1cdfb2c14d7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509" y="3657599"/>
            <a:ext cx="5219077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4709160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3C4351"/>
                </a:solidFill>
                <a:latin typeface="Arial"/>
              </a:rPr>
              <a:t>In practice, replace the true score ∇ log pₜ(x) with the learned model sθ(x,t).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57 / 74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ODE Property: Matching Marginals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37360"/>
            <a:ext cx="103327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C9C9F6"/>
                </a:solidFill>
                <a:latin typeface="Arial"/>
              </a:rPr>
              <a:t>CRUCIAL GUARANTEE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011680"/>
            <a:ext cx="1033271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"/>
              </a:rPr>
              <a:t>The Probability Flow ODE shares the exact same marginal distributions pₜ(x) as the corresponding stochastic SDE.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83464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0723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THE IMPLICATION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38144"/>
            <a:ext cx="104790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50" b="0" i="0">
                <a:solidFill>
                  <a:srgbClr val="3C4351"/>
                </a:solidFill>
                <a:latin typeface="Arial"/>
              </a:rPr>
              <a:t>Integrating this ODE from 'noise time' back to 'data time' yields samples from the same target distribution (in the idealized limit).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58 / 74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VP Probability Flow ODE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0" y="50292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3" action="ppaction://hlinksldjump"/>
              </a:rPr>
              <a:t>General form → slide 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B1F2A"/>
                </a:solidFill>
                <a:latin typeface="Arial"/>
              </a:rPr>
              <a:t>f = −½β(t)x        g² = β(t)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VP PROBABILITY FLOW 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" y="2788920"/>
            <a:ext cx="10058400" cy="868680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4b4800823ec816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097" y="3012568"/>
            <a:ext cx="5341900" cy="42138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206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06240"/>
            <a:ext cx="103327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Deterministic alternative to DDPM/VP reverse-SDE sampling. Note the ½ on the score term.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59 / 74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VE Probability Flow ODE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0" y="502920"/>
            <a:ext cx="25146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3" action="ppaction://hlinksldjump"/>
              </a:rPr>
              <a:t>General form → slide 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188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B1F2A"/>
                </a:solidFill>
                <a:latin typeface="Arial"/>
              </a:rPr>
              <a:t>f = 0        g² = g²(t)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20240"/>
            <a:ext cx="11064240" cy="2011680"/>
          </a:xfrm>
          <a:prstGeom prst="roundRect">
            <a:avLst>
              <a:gd name="adj" fmla="val 5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033271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Georgia"/>
              </a:rPr>
              <a:t>VE PROBABILITY FLOW 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" y="2788920"/>
            <a:ext cx="10058400" cy="868680"/>
          </a:xfrm>
          <a:prstGeom prst="roundRect">
            <a:avLst>
              <a:gd name="adj" fmla="val 6000"/>
            </a:avLst>
          </a:prstGeom>
          <a:solidFill>
            <a:srgbClr val="4A4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70ca641ee3bdd86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4" y="3008179"/>
            <a:ext cx="3981186" cy="43016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66928" y="42062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06240"/>
            <a:ext cx="10332719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A deterministic flow guided purely by the score — simple, drift-free structure.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60 / 74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ODE Payoff: Adaptive Sampling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7922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ERROR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490118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ODE solvers automatically adjust step sizes based on local error estimates.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554480"/>
            <a:ext cx="539496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922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DYNAMIC ALLOCATION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57984"/>
            <a:ext cx="4809744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400" b="0" i="0">
                <a:solidFill>
                  <a:srgbClr val="3C4351"/>
                </a:solidFill>
                <a:latin typeface="Arial"/>
              </a:rPr>
              <a:t>Spend more steps where dynamics are stiff (curved) and fewer where the flow is straight.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16052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160520"/>
            <a:ext cx="10332719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Number of Function Evaluations (NFE) becomes a runtime knob — not a fixed hyperparameter 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61 / 74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ODE Payoff: Exact Likelihoods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55448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46e4cc1cffcaba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793" y="1737360"/>
            <a:ext cx="6806107" cy="8686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66928" y="315468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3392424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CONTINUOUS NORMALIZING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758184"/>
            <a:ext cx="490118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The ODE is a continuous invertible mapping — compute log-likelihood via the instantaneous change-of-variables formula.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154680"/>
            <a:ext cx="539496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339242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HUTCHINSON'S TRICK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758184"/>
            <a:ext cx="4809744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700"/>
              </a:spcAft>
            </a:pPr>
            <a:r>
              <a:rPr sz="1350" b="0" i="0">
                <a:solidFill>
                  <a:srgbClr val="3C4351"/>
                </a:solidFill>
                <a:latin typeface="Arial"/>
              </a:rPr>
              <a:t>The trace term is estimated stochastically to avoid the full Jacobian, scaling to high dimensions.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[5]  Hutchinson, 1990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62 / 74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SDE vs. ODE: When to Use Which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00200"/>
            <a:ext cx="548640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83794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REVERSE SDE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203704"/>
            <a:ext cx="4901184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Stochasticity can correct errors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Robust to score inaccuracies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5B5BD6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Supports Predictor–Corrector sampling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600200"/>
            <a:ext cx="539496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37943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PROBABILITY FLOW 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03704"/>
            <a:ext cx="4809744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Deterministic (fixed latent map)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Adaptive solvers (faster)</a:t>
            </a:r>
          </a:p>
          <a:p>
            <a:pPr algn="l">
              <a:spcAft>
                <a:spcPts val="1100"/>
              </a:spcAft>
            </a:pPr>
            <a:r>
              <a:rPr sz="13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Exact likelihood computation</a:t>
            </a:r>
          </a:p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2A150"/>
                </a:solidFill>
                <a:latin typeface="Arial"/>
              </a:rPr>
              <a:t>✓  </a:t>
            </a:r>
            <a:r>
              <a:rPr sz="1350" b="0" i="0">
                <a:solidFill>
                  <a:srgbClr val="3C4351"/>
                </a:solidFill>
                <a:latin typeface="Arial"/>
              </a:rPr>
              <a:t>Latent-space manipulation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029200"/>
            <a:ext cx="11064240" cy="77724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029200"/>
            <a:ext cx="1033271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Crucially, both methods use the exact same trained score model sθ(x,t).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63 / 74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Bridge: The Unified 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69164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9293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VP SDE DISCRETIZATIONS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295144"/>
            <a:ext cx="10479024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5B5BD6"/>
                </a:solidFill>
                <a:latin typeface="Arial"/>
              </a:rPr>
              <a:t>→  </a:t>
            </a:r>
            <a:r>
              <a:rPr sz="1500" b="1" i="0">
                <a:solidFill>
                  <a:srgbClr val="1B1F2A"/>
                </a:solidFill>
                <a:latin typeface="Arial"/>
              </a:rPr>
              <a:t>DDPM family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108960"/>
            <a:ext cx="110642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34670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VE SDE DISCRETIZATIONS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10479024" cy="457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2A150"/>
                </a:solidFill>
                <a:latin typeface="Arial"/>
              </a:rPr>
              <a:t>→  </a:t>
            </a:r>
            <a:r>
              <a:rPr sz="1500" b="1" i="0">
                <a:solidFill>
                  <a:srgbClr val="1B1F2A"/>
                </a:solidFill>
                <a:latin typeface="Arial"/>
              </a:rPr>
              <a:t>SMLD family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46634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663440"/>
            <a:ext cx="1033271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SDE framework: one score model + many solvers / discretizations.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64 / 74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Bridge: Dimensions of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78308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0208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386584"/>
            <a:ext cx="298094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β(t) for VP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σ(t) / g(t) for 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4528" y="178308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20208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SAMPLERS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2386584"/>
            <a:ext cx="298094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Ancestral (DDPM)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DDIM (deterministic)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Euler–Maruyama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Predictor–Corrector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ODE (adaptive)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783080"/>
            <a:ext cx="35661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202082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TRADE-OFFS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386584"/>
            <a:ext cx="2980944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Sample quality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Speed (NFE)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Likelihood</a:t>
            </a: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150" b="0" i="0">
                <a:solidFill>
                  <a:srgbClr val="3C4351"/>
                </a:solidFill>
                <a:latin typeface="Arial"/>
              </a:rPr>
              <a:t>Controllability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349240"/>
            <a:ext cx="11064240" cy="50292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349240"/>
            <a:ext cx="1033271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One framework, many knobs — quality, speed, likelihood, and control.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65 / 74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PART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E2E2FB"/>
                </a:solidFill>
                <a:latin typeface="Arial"/>
              </a:rPr>
              <a:t>Song et al. (2021) — what the SDE framework delivers on CIFAR-10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Samplers   ·   Likelihoods   ·   Sample quality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Results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3C4351"/>
                </a:solidFill>
                <a:latin typeface="Arial"/>
              </a:rPr>
              <a:t>CIFAR-10, unconditional generation — and the first high-fidelity score-based 1024² samples.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74519"/>
            <a:ext cx="2615184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48840"/>
            <a:ext cx="261518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5B5BD6"/>
                </a:solidFill>
                <a:latin typeface="Georgia"/>
              </a:rPr>
              <a:t>2.20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63240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B1F2A"/>
                </a:solidFill>
                <a:latin typeface="Arial"/>
              </a:rPr>
              <a:t>FID  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474720"/>
            <a:ext cx="2249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3C4351"/>
                </a:solidFill>
                <a:latin typeface="Arial"/>
              </a:rPr>
              <a:t>New SOTA on CIFAR-10 (NCSN++ cont., deep VE).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4" y="1874519"/>
            <a:ext cx="2615184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2148840"/>
            <a:ext cx="261518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5B5BD6"/>
                </a:solidFill>
                <a:latin typeface="Georgia"/>
              </a:rPr>
              <a:t>9.89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3063240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B1F2A"/>
                </a:solidFill>
                <a:latin typeface="Arial"/>
              </a:rPr>
              <a:t>Inception 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3474720"/>
            <a:ext cx="2249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3C4351"/>
                </a:solidFill>
                <a:latin typeface="Arial"/>
              </a:rPr>
              <a:t>Highest IS — beats the best GANs, no labels.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74519"/>
            <a:ext cx="2615184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148840"/>
            <a:ext cx="261518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5B5BD6"/>
                </a:solidFill>
                <a:latin typeface="Georgia"/>
              </a:rPr>
              <a:t>2.99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63240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B1F2A"/>
                </a:solidFill>
                <a:latin typeface="Arial"/>
              </a:rPr>
              <a:t>bits/dim 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474720"/>
            <a:ext cx="2249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3C4351"/>
                </a:solidFill>
                <a:latin typeface="Arial"/>
              </a:rPr>
              <a:t>Record likelihood via the probability-flow ODE (sub-VP).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874519"/>
            <a:ext cx="2615184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06256" y="2148840"/>
            <a:ext cx="261518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5B5BD6"/>
                </a:solidFill>
                <a:latin typeface="Georgia"/>
              </a:rPr>
              <a:t>1024²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6256" y="3063240"/>
            <a:ext cx="2615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B1F2A"/>
                </a:solidFill>
                <a:latin typeface="Arial"/>
              </a:rPr>
              <a:t>first samples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3474720"/>
            <a:ext cx="22494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3C4351"/>
                </a:solidFill>
                <a:latin typeface="Arial"/>
              </a:rPr>
              <a:t>First high-fidelity images from a score-based model.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09160"/>
            <a:ext cx="11064240" cy="960120"/>
          </a:xfrm>
          <a:prstGeom prst="roundRect">
            <a:avLst>
              <a:gd name="adj" fmla="val 6000"/>
            </a:avLst>
          </a:prstGeom>
          <a:solidFill>
            <a:srgbClr val="5B5BD6"/>
          </a:solidFill>
          <a:ln>
            <a:noFill/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709160"/>
            <a:ext cx="10332719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One framework — best-in-class samples (VE) and record likelihoods (sub-VP) — from the same score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[6]  Song et al., 2021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67 / 74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Table 1 — Reverse-Time SDE Solvers (FID)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54480"/>
          <a:ext cx="1106424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  <a:gridCol w="1143000"/>
              </a:tblGrid>
              <a:tr h="411480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EF0F4"/>
                    </a:solidFill>
                  </a:tcPr>
                </a:tc>
                <a:tc gridSpan="4"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Variance Exploding SDE (SMLD)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5B5BD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Variance Preserving SDE (DDPM)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4A47C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B1F2A"/>
                          </a:solidFill>
                          <a:latin typeface="Arial"/>
                        </a:rPr>
                        <a:t>FID  ·  Sampler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3C4351"/>
                          </a:solidFill>
                          <a:latin typeface="Arial"/>
                        </a:rPr>
                        <a:t>P1000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3C4351"/>
                          </a:solidFill>
                          <a:latin typeface="Arial"/>
                        </a:rPr>
                        <a:t>P2000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3C4351"/>
                          </a:solidFill>
                          <a:latin typeface="Arial"/>
                        </a:rPr>
                        <a:t>C2000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3C4351"/>
                          </a:solidFill>
                          <a:latin typeface="Arial"/>
                        </a:rPr>
                        <a:t>PC1000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3C4351"/>
                          </a:solidFill>
                          <a:latin typeface="Arial"/>
                        </a:rPr>
                        <a:t>P1000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3C4351"/>
                          </a:solidFill>
                          <a:latin typeface="Arial"/>
                        </a:rPr>
                        <a:t>P2000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3C4351"/>
                          </a:solidFill>
                          <a:latin typeface="Arial"/>
                        </a:rPr>
                        <a:t>C2000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EF0F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3C4351"/>
                          </a:solidFill>
                          <a:latin typeface="Arial"/>
                        </a:rPr>
                        <a:t>PC1000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EF0F4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1F2A"/>
                          </a:solidFill>
                          <a:latin typeface="Arial"/>
                        </a:rPr>
                        <a:t>ancestral sampling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4.98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4.88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E5484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3.62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3.24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3.24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E5484D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BEEE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1F2A"/>
                          </a:solidFill>
                          <a:latin typeface="Arial"/>
                        </a:rPr>
                        <a:t>reverse diffusion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4.79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4.74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20.43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3.60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19.06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3.18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B1F2A"/>
                          </a:solidFill>
                          <a:latin typeface="Arial"/>
                        </a:rPr>
                        <a:t>probability flow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D9890B"/>
                          </a:solidFill>
                          <a:latin typeface="Arial"/>
                        </a:rPr>
                        <a:t>15.41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10.54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3.51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3.59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3.23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B1F2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12A150"/>
                          </a:solidFill>
                          <a:latin typeface="Arial"/>
                        </a:rPr>
                        <a:t>3.06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BF6F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66928" y="4069080"/>
            <a:ext cx="11064240" cy="178308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4123944"/>
            <a:ext cx="91440" cy="167335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4069080"/>
            <a:ext cx="10497312" cy="1783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Why these numbers: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Predictor+Corrector (PC1000) is best everywhere — VP probability-flow PC hits 3.06. Corrector-only (C2000) collapses (≈19–20) at equal compute: pure MCMC mixes too slowly. Reverse-diffusion beats ancestral sampling, and for VE, predictor-only struggles (15.41) until a corrector rescues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[6]  Song et al., 2021  ·  mean over 5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68 / 74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Table 2 — Likelihoods (NLL) &amp; FID via the ODE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08760"/>
          <a:ext cx="5760720" cy="4041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1280160"/>
                <a:gridCol w="1280160"/>
              </a:tblGrid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5B5BD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NLL ↓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5B5BD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FID ↓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5B5BD6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RealNVP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3.49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Glow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3.35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Flow++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3.29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Residual Flow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3.28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46.37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DDPM (L_simple)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≤3.75*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3.17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DDPM (ours)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3.28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3.37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DDPM cont. (VP)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3.69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DDPM cont. (sub-VP)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3.05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3.56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DDPM++ cont. (VP)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3.16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3.93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DDPM++ cont. (sub-VP)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3.16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DDPM++ cont. (deep, VP)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3.13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3.08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DEDFB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12A150"/>
                          </a:solidFill>
                          <a:latin typeface="Arial"/>
                        </a:rPr>
                        <a:t>DDPM++ cont. (deep, sub-VP)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BF6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2A150"/>
                          </a:solidFill>
                          <a:latin typeface="Arial"/>
                        </a:rPr>
                        <a:t>2.99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BF6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2A150"/>
                          </a:solidFill>
                          <a:latin typeface="Arial"/>
                        </a:rPr>
                        <a:t>2.92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BF6F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37960" y="1508760"/>
            <a:ext cx="509320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0568" y="1746504"/>
            <a:ext cx="45445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5B5BD6"/>
                </a:solidFill>
                <a:latin typeface="Arial"/>
              </a:rPr>
              <a:t>WHY THE LIKELIHOODS IMPROVE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0568" y="2112264"/>
            <a:ext cx="4507992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Exact, not ELBO —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the ODE gives exact log-likelihood, so the same DDPM beats its own ELBO bound (3.28 &lt; 3.70).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Continuous objective helps —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training with the continuous loss (DDPM cont.) lowers bits/dim further.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sub-VP wins on likelihood —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sub-VP always edges out VP, because its variance never exceeds the VP path.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Record —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DDPM++ cont. (deep, sub-VP) sets 2.99 bits/dim — without any maximum-likelihood training.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[6]  Song et al., 2021   ·   * ELBO on discrete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69 / 74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Table 3 — CIFAR-10 Sample Quality (FID &amp; IS)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508760"/>
          <a:ext cx="5943600" cy="3968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3280"/>
                <a:gridCol w="1280160"/>
                <a:gridCol w="1280160"/>
              </a:tblGrid>
              <a:tr h="28346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5B5BD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FID ↓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5B5BD6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IS ↑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5B5BD6"/>
                    </a:solidFill>
                  </a:tcPr>
                </a:tc>
              </a:tr>
              <a:tr h="283464">
                <a:tc gridSpan="3"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4A47C2"/>
                          </a:solidFill>
                          <a:latin typeface="Arial"/>
                        </a:rPr>
                        <a:t>Conditional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6E6F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3464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BigGAN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14.73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9.22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StyleGAN2-ADA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2.42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10.14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 gridSpan="3"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4A47C2"/>
                          </a:solidFill>
                          <a:latin typeface="Arial"/>
                        </a:rPr>
                        <a:t>Unconditional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6E6F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3464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StyleGAN2-ADA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2.92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9.83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NCSN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25.32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8.87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NCSNv2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10.87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8.40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DDPM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3.17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9.46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DDPM++ cont. (VP)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2.55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9.58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DDPM++ cont. (deep, VP)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2.41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9.68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NCSN++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2.45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9.73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none"/>
                    <a:lstStyle/>
                    <a:p>
                      <a:pPr algn="l"/>
                      <a:r>
                        <a:rPr sz="900" b="0">
                          <a:solidFill>
                            <a:srgbClr val="3C4351"/>
                          </a:solidFill>
                          <a:latin typeface="Arial"/>
                        </a:rPr>
                        <a:t>NCSN++ cont. (VE)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2.38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0">
                          <a:solidFill>
                            <a:srgbClr val="1B1F2A"/>
                          </a:solidFill>
                          <a:latin typeface="Arial"/>
                        </a:rPr>
                        <a:t>9.83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none"/>
                    <a:lstStyle/>
                    <a:p>
                      <a:pPr algn="l"/>
                      <a:r>
                        <a:rPr sz="900" b="1">
                          <a:solidFill>
                            <a:srgbClr val="12A150"/>
                          </a:solidFill>
                          <a:latin typeface="Arial"/>
                        </a:rPr>
                        <a:t>NCSN++ cont. (deep, VE)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BF6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2A150"/>
                          </a:solidFill>
                          <a:latin typeface="Arial"/>
                        </a:rPr>
                        <a:t>2.20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BF6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12A150"/>
                          </a:solidFill>
                          <a:latin typeface="Arial"/>
                        </a:rPr>
                        <a:t>9.89</a:t>
                      </a:r>
                    </a:p>
                  </a:txBody>
                  <a:tcPr marL="64008" marR="64008" marT="13716" marB="13716" anchor="ctr">
                    <a:lnL w="6350" cap="flat" cmpd="sng" algn="ctr">
                      <a:solidFill>
                        <a:srgbClr val="DCE0E7"/>
                      </a:solidFill>
                    </a:lnL>
                    <a:lnR w="6350" cap="flat" cmpd="sng" algn="ctr">
                      <a:solidFill>
                        <a:srgbClr val="DCE0E7"/>
                      </a:solidFill>
                    </a:lnR>
                    <a:lnT w="6350" cap="flat" cmpd="sng" algn="ctr">
                      <a:solidFill>
                        <a:srgbClr val="DCE0E7"/>
                      </a:solidFill>
                    </a:lnT>
                    <a:lnB w="6350" cap="flat" cmpd="sng" algn="ctr">
                      <a:solidFill>
                        <a:srgbClr val="DCE0E7"/>
                      </a:solidFill>
                    </a:lnB>
                    <a:solidFill>
                      <a:srgbClr val="EBF6F0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20840" y="1508760"/>
            <a:ext cx="4910328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13448" y="1746504"/>
            <a:ext cx="4361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60">
                <a:solidFill>
                  <a:srgbClr val="12A150"/>
                </a:solidFill>
                <a:latin typeface="Arial"/>
              </a:rPr>
              <a:t>WHY VE WINS ON SAMPLES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3448" y="2112264"/>
            <a:ext cx="4325112" cy="3337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VE for fidelity —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NCSN++ cont. (deep, VE) reaches FID 2.20 / IS 9.89 — the best in the table.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Beats the GANs —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it surpasses StyleGAN2-ADA (2.92) unconditionally, and even the best conditional model — with no labels.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Depth + continuous training —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deeper NCSN++/DDPM++ and the continuous objective both push FID down.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Mirror image of Table 2 — </a:t>
            </a:r>
            <a:r>
              <a:rPr sz="1200" b="0" i="0">
                <a:solidFill>
                  <a:srgbClr val="3C4351"/>
                </a:solidFill>
                <a:latin typeface="Arial"/>
              </a:rPr>
              <a:t>VE is best for samples while sub-VP is best for likelihood — same score model, different solver/SDE.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[6]  Song et al., 2021  ·  [7] Karras et al., 2020  ·  [8] Brock et al., 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70 / 74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 spc="400">
                <a:solidFill>
                  <a:srgbClr val="C9C9F6"/>
                </a:solidFill>
                <a:latin typeface="Arial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788920"/>
            <a:ext cx="1219169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Georgia"/>
              </a:rPr>
              <a:t>Derivation of the VP Marginals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1">
                <a:solidFill>
                  <a:srgbClr val="E2E2FB"/>
                </a:solidFill>
                <a:latin typeface="Arial"/>
              </a:rPr>
              <a:t>Why α(t) and σ(t) take their closed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C9C9F6"/>
                </a:solidFill>
                <a:latin typeface="Arial"/>
              </a:rPr>
              <a:t>Linear SDE   ·   Integrating factor   ·   Itô isometry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A47C2"/>
                </a:solidFill>
                <a:latin typeface="Georgia"/>
              </a:rPr>
              <a:t>Appendix — Deriving the Mean  α(t)</a:t>
            </a:r>
          </a:p>
        </p:txBody>
      </p:sp>
      <p:sp>
        <p:nvSpPr>
          <p:cNvPr id="5" name="Rounded Rectangle 4">
            <a:hlinkClick action="ppaction://hlinksldjump" r:id="rId7"/>
          </p:cNvPr>
          <p:cNvSpPr/>
          <p:nvPr/>
        </p:nvSpPr>
        <p:spPr>
          <a:xfrm>
            <a:off x="9601200" y="502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7" action="ppaction://hlinksldjump"/>
              </a:rPr>
              <a:t>Back to slide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078992"/>
            <a:ext cx="8503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3C4351"/>
                </a:solidFill>
                <a:latin typeface="Arial"/>
              </a:rPr>
              <a:t>The VP SDE is linear, so x(t) | x(0) is Gaussian. Solve it explicitly — first the mean.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11064240" cy="46542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7"/>
            <a:ext cx="3063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1 · Linear SDE</a:t>
            </a:r>
          </a:p>
        </p:txBody>
      </p:sp>
      <p:pic>
        <p:nvPicPr>
          <p:cNvPr id="9" name="Picture 8" descr="0a48517df0044c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562" y="1781053"/>
            <a:ext cx="4521082" cy="4521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2441447"/>
            <a:ext cx="3063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2 · Integrating factor</a:t>
            </a:r>
          </a:p>
        </p:txBody>
      </p:sp>
      <p:pic>
        <p:nvPicPr>
          <p:cNvPr id="11" name="Picture 10" descr="a93a361e185ee7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8149" y="2560320"/>
            <a:ext cx="5543909" cy="6309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3310127"/>
            <a:ext cx="3063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3 · Integrate  0→t</a:t>
            </a:r>
          </a:p>
        </p:txBody>
      </p:sp>
      <p:pic>
        <p:nvPicPr>
          <p:cNvPr id="13" name="Picture 12" descr="29b599302b1799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0260" y="3429000"/>
            <a:ext cx="4339686" cy="6309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4178808"/>
            <a:ext cx="3063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4 · Solve for x(t)</a:t>
            </a:r>
          </a:p>
        </p:txBody>
      </p:sp>
      <p:pic>
        <p:nvPicPr>
          <p:cNvPr id="15" name="Picture 14" descr="c129e8c48010ee7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9614" y="4297680"/>
            <a:ext cx="5860979" cy="63093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5047488"/>
            <a:ext cx="3063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5 · Take expectation</a:t>
            </a:r>
          </a:p>
        </p:txBody>
      </p:sp>
      <p:pic>
        <p:nvPicPr>
          <p:cNvPr id="17" name="Picture 16" descr="bce0389bf4c8f0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1761" y="5166360"/>
            <a:ext cx="6456685" cy="6309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1520" y="5989320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1">
                <a:solidFill>
                  <a:srgbClr val="8A909C"/>
                </a:solidFill>
                <a:latin typeface="Arial"/>
              </a:rPr>
              <a:t>The Itô integral has zero mean, so the conditional mean is simply α(t)·x(0). Continues on the next slide 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72 / 74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4A47C2"/>
                </a:solidFill>
                <a:latin typeface="Georgia"/>
              </a:rPr>
              <a:t>Appendix — Deriving the Variance  σ²(t)</a:t>
            </a:r>
          </a:p>
        </p:txBody>
      </p:sp>
      <p:sp>
        <p:nvSpPr>
          <p:cNvPr id="5" name="Rounded Rectangle 4">
            <a:hlinkClick action="ppaction://hlinksldjump" r:id="rId6"/>
          </p:cNvPr>
          <p:cNvSpPr/>
          <p:nvPr/>
        </p:nvSpPr>
        <p:spPr>
          <a:xfrm>
            <a:off x="9601200" y="5029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B5B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150" b="1">
                <a:solidFill>
                  <a:srgbClr val="5B5BD6"/>
                </a:solidFill>
                <a:latin typeface="Arial"/>
                <a:hlinkClick r:id="rId6" action="ppaction://hlinksldjump"/>
              </a:rPr>
              <a:t>Back to slide 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078992"/>
            <a:ext cx="8503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1">
                <a:solidFill>
                  <a:srgbClr val="3C4351"/>
                </a:solidFill>
                <a:latin typeface="Arial"/>
              </a:rPr>
              <a:t>The variance of the same solution, from the stochastic integral via Itô isometry.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11064240" cy="3858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E7ED"/>
            </a:solidFill>
          </a:ln>
          <a:effectLst/>
          <a:effectLst>
            <a:outerShdw blurRad="90000" dist="30000" dir="5400000" rotWithShape="0">
              <a:srgbClr val="9aa0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306324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1 · Random part</a:t>
            </a:r>
          </a:p>
        </p:txBody>
      </p:sp>
      <p:pic>
        <p:nvPicPr>
          <p:cNvPr id="9" name="Picture 8" descr="a325f396cb94f7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212" y="1691640"/>
            <a:ext cx="4903783" cy="649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2459736"/>
            <a:ext cx="306324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2 · Itô isometry</a:t>
            </a:r>
          </a:p>
        </p:txBody>
      </p:sp>
      <p:pic>
        <p:nvPicPr>
          <p:cNvPr id="11" name="Picture 10" descr="01832f6bc2ba7b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9258" y="2578608"/>
            <a:ext cx="7121690" cy="64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3346703"/>
            <a:ext cx="306324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3 · Perfect derivative</a:t>
            </a:r>
          </a:p>
        </p:txBody>
      </p:sp>
      <p:pic>
        <p:nvPicPr>
          <p:cNvPr id="13" name="Picture 12" descr="e0b5cd67dfa2fd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0740" y="3465575"/>
            <a:ext cx="6798726" cy="6492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4233671"/>
            <a:ext cx="3063240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5B5BD6"/>
                </a:solidFill>
                <a:latin typeface="Arial"/>
              </a:rPr>
              <a:t>4 · Collect</a:t>
            </a:r>
          </a:p>
        </p:txBody>
      </p:sp>
      <p:pic>
        <p:nvPicPr>
          <p:cNvPr id="15" name="Picture 14" descr="d41dc90354c36e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5046" y="4462075"/>
            <a:ext cx="5750115" cy="430161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66928" y="521208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DED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5266944"/>
            <a:ext cx="91440" cy="804672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212080"/>
            <a:ext cx="1049731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B5BD6"/>
                </a:solidFill>
                <a:latin typeface="Arial"/>
              </a:rPr>
              <a:t>Variance preserving: </a:t>
            </a:r>
            <a:r>
              <a:rPr sz="1400" b="0" i="0">
                <a:solidFill>
                  <a:srgbClr val="3C4351"/>
                </a:solidFill>
                <a:latin typeface="Arial"/>
              </a:rPr>
              <a:t>with normalized data, α²(t) + σ²(t) = 1, so the marginal variance of x(t) stays ≈ 1 throughout the process — the property that names the VP SDE.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30">
                <a:solidFill>
                  <a:srgbClr val="8A909C"/>
                </a:solidFill>
                <a:latin typeface="Arial"/>
              </a:rPr>
              <a:t>[6]  Song et al., 2021, App. (VP/VE SDEs)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73 / 74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420624"/>
            <a:ext cx="118872" cy="566928"/>
          </a:xfrm>
          <a:prstGeom prst="roundRect">
            <a:avLst>
              <a:gd name="adj" fmla="val 50000"/>
            </a:avLst>
          </a:prstGeom>
          <a:solidFill>
            <a:srgbClr val="5B5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347472"/>
            <a:ext cx="108813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B1F2A"/>
                </a:solidFill>
                <a:latin typeface="Georgia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49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[1]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Song &amp; Ermon (2019). </a:t>
            </a:r>
            <a:r>
              <a:rPr sz="1200" b="0" i="1">
                <a:solidFill>
                  <a:srgbClr val="3C4351"/>
                </a:solidFill>
                <a:latin typeface="Arial"/>
              </a:rPr>
              <a:t>Generative Modeling by Estimating Gradients of the Data Distribution.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NeurIPS.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[2]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Sohl-Dickstein et al. (2015). </a:t>
            </a:r>
            <a:r>
              <a:rPr sz="1200" b="0" i="1">
                <a:solidFill>
                  <a:srgbClr val="3C4351"/>
                </a:solidFill>
                <a:latin typeface="Arial"/>
              </a:rPr>
              <a:t>Deep Unsupervised Learning using Nonequilibrium Thermodynamics.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ICML.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[3]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Ho, Jain &amp; Abbeel (2020). </a:t>
            </a:r>
            <a:r>
              <a:rPr sz="1200" b="0" i="1">
                <a:solidFill>
                  <a:srgbClr val="3C4351"/>
                </a:solidFill>
                <a:latin typeface="Arial"/>
              </a:rPr>
              <a:t>Denoising Diffusion Probabilistic Models.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NeurIPS.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554480"/>
            <a:ext cx="53492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[4]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Anderson (1982). </a:t>
            </a:r>
            <a:r>
              <a:rPr sz="1200" b="0" i="1">
                <a:solidFill>
                  <a:srgbClr val="3C4351"/>
                </a:solidFill>
                <a:latin typeface="Arial"/>
              </a:rPr>
              <a:t>Reverse-Time Diffusion Equation Models.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Stoch. Proc. Appl.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[5]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Hutchinson (1990). </a:t>
            </a:r>
            <a:r>
              <a:rPr sz="1200" b="0" i="1">
                <a:solidFill>
                  <a:srgbClr val="3C4351"/>
                </a:solidFill>
                <a:latin typeface="Arial"/>
              </a:rPr>
              <a:t>A Stochastic Estimator of the Trace of the Influence Matrix.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Commun. Stat.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[6]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Song et al. (2021). </a:t>
            </a:r>
            <a:r>
              <a:rPr sz="1200" b="0" i="1">
                <a:solidFill>
                  <a:srgbClr val="3C4351"/>
                </a:solidFill>
                <a:latin typeface="Arial"/>
              </a:rPr>
              <a:t>Score-Based Generative Modeling through SDEs.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ICLR.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[7]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Karras et al. (2020). </a:t>
            </a:r>
            <a:r>
              <a:rPr sz="1200" b="0" i="1">
                <a:solidFill>
                  <a:srgbClr val="3C4351"/>
                </a:solidFill>
                <a:latin typeface="Arial"/>
              </a:rPr>
              <a:t>Training GANs with Limited Data (StyleGAN2-ADA).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NeurIPS.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200" b="1" i="0">
                <a:solidFill>
                  <a:srgbClr val="5B5BD6"/>
                </a:solidFill>
                <a:latin typeface="Arial"/>
              </a:rPr>
              <a:t>[8]  </a:t>
            </a:r>
            <a:r>
              <a:rPr sz="1200" b="1" i="0">
                <a:solidFill>
                  <a:srgbClr val="1B1F2A"/>
                </a:solidFill>
                <a:latin typeface="Arial"/>
              </a:rPr>
              <a:t>Brock et al. (2018). </a:t>
            </a:r>
            <a:r>
              <a:rPr sz="1200" b="0" i="1">
                <a:solidFill>
                  <a:srgbClr val="3C4351"/>
                </a:solidFill>
                <a:latin typeface="Arial"/>
              </a:rPr>
              <a:t>Large Scale GAN Training (BigGAN).  </a:t>
            </a:r>
            <a:r>
              <a:rPr sz="1100" b="0" i="0">
                <a:solidFill>
                  <a:srgbClr val="8A909C"/>
                </a:solidFill>
                <a:latin typeface="Arial"/>
              </a:rPr>
              <a:t>ICLR.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spc="50">
                <a:solidFill>
                  <a:srgbClr val="8A909C"/>
                </a:solidFill>
                <a:latin typeface="Arial"/>
              </a:rPr>
              <a:t>74 / 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