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" Target="slide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slide" Target="slide3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" Target="slide4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slide" Target="slide3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slide" Target="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" Target="slide13.xml"/><Relationship Id="rId6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slide" Target="slide34.xml"/><Relationship Id="rId8" Type="http://schemas.openxmlformats.org/officeDocument/2006/relationships/slide" Target="slide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slide" Target="slide24.xml"/><Relationship Id="rId6" Type="http://schemas.openxmlformats.org/officeDocument/2006/relationships/slide" Target="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slide" Target="slide36.xml"/><Relationship Id="rId5" Type="http://schemas.openxmlformats.org/officeDocument/2006/relationships/slide" Target="slide3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" Target="slide37.xml"/><Relationship Id="rId5" Type="http://schemas.openxmlformats.org/officeDocument/2006/relationships/slide" Target="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slide" Target="slide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628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1B1F2A"/>
                </a:solidFill>
                <a:latin typeface="Georgia"/>
              </a:rPr>
              <a:t>Motivation for Score-Based</a:t>
            </a:r>
          </a:p>
          <a:p>
            <a:pPr algn="ctr">
              <a:spcBef>
                <a:spcPts val="400"/>
              </a:spcBef>
            </a:pPr>
            <a:r>
              <a:rPr sz="5000" b="1" i="0">
                <a:solidFill>
                  <a:srgbClr val="1B1F2A"/>
                </a:solidFill>
                <a:latin typeface="Georgia"/>
              </a:rPr>
              <a:t>Generative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690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5B5BD6"/>
                </a:solidFill>
                <a:latin typeface="Arial"/>
              </a:rPr>
              <a:t>Diffusion ≈ learning  s(x, t)  and sampling with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047" y="4800600"/>
            <a:ext cx="3657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e08e49b7d529b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212" y="5063935"/>
            <a:ext cx="2787269" cy="351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910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81328"/>
            <a:ext cx="10058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Arial"/>
              </a:rPr>
              <a:t>The Generative Landscape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VAE, GAN, and normalizing flows — and the wish list that motivates diffusion.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677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57984"/>
            <a:ext cx="10058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Arial"/>
              </a:rPr>
              <a:t>Energy Models &amp; Normalization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Why maximum-likelihood training is intractable: the partition function 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44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34640"/>
            <a:ext cx="10058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Arial"/>
              </a:rPr>
              <a:t>Score Matching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Learning  ∇ₓ log p  without Z (Hyvärinen) — and the trace bottleneck.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21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11296"/>
            <a:ext cx="10058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Arial"/>
              </a:rPr>
              <a:t>Scalable Estimators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Hutchinson’s trick and sliced score matching make it tractable.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87952"/>
            <a:ext cx="10058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Arial"/>
              </a:rPr>
              <a:t>Denoising Score Matching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Vincent’s identity, the DSM objective, and multi-scale noise.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74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743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10058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Arial"/>
              </a:rPr>
              <a:t>Modern Diffusion &amp; Sampling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ε-prediction parameterization and Langevin dynamics.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9612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596128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A47C2"/>
                </a:solidFill>
                <a:latin typeface="Arial"/>
              </a:rPr>
              <a:t>Appendix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— full derivations: MLE gradient, Hyvärinen, Vincent, change of variables, Hutchinson.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Georgia"/>
              </a:rPr>
              <a:t>The Generative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VAE   ·   GAN   ·   Normalizing flows   ·   The wish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The Generative Modeling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627632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 spc="160">
                <a:solidFill>
                  <a:srgbClr val="5B5BD6"/>
                </a:solidFill>
                <a:latin typeface="Arial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01952"/>
            <a:ext cx="96313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1B1F2A"/>
                </a:solidFill>
                <a:latin typeface="Georgia"/>
              </a:rPr>
              <a:t>Learn a model of the data distribution from finite samples to generate new, high-quality data.</a:t>
            </a:r>
          </a:p>
        </p:txBody>
      </p:sp>
      <p:pic>
        <p:nvPicPr>
          <p:cNvPr id="8" name="Picture 7" descr="0b7c494b4e843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260" y="2732215"/>
            <a:ext cx="5311175" cy="351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401568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37307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62102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F2A"/>
                </a:solidFill>
                <a:latin typeface="Arial"/>
              </a:rPr>
              <a:t>Density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14800"/>
            <a:ext cx="4681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Estimate the probability density p(x) for any x.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Useful for anomaly detection, evaluation, and understanding data structure.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Requires a normalized or at least tractable objective.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3401568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47104" y="37307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362102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F2A"/>
                </a:solidFill>
                <a:latin typeface="Arial"/>
              </a:rPr>
              <a:t>Sample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114800"/>
            <a:ext cx="4681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Generate new samples x′ that look like they came from pdata(x).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Requires efficient sampling mechanisms (e.g., GAN generators, Langevin).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The core of modern creative AI applications.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VAE: What It Optimizes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106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3250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Encoder</a:t>
            </a:r>
          </a:p>
          <a:p>
            <a:pPr algn="ctr">
              <a:spcBef>
                <a:spcPts val="20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qφ(z|x)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7067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998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 w="19050">
            <a:solidFill>
              <a:srgbClr val="5B5B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142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B1F2A"/>
                </a:solidFill>
                <a:latin typeface="Arial"/>
              </a:rPr>
              <a:t>Latent Space</a:t>
            </a:r>
          </a:p>
          <a:p>
            <a:pPr algn="ctr">
              <a:spcBef>
                <a:spcPts val="200"/>
              </a:spcBef>
            </a:pPr>
            <a:r>
              <a:rPr sz="1350" b="1" i="0">
                <a:solidFill>
                  <a:srgbClr val="1B1F2A"/>
                </a:solidFill>
                <a:latin typeface="Arial"/>
              </a:rPr>
              <a:t>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5987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890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2D7FF9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034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Decoder</a:t>
            </a:r>
          </a:p>
          <a:p>
            <a:pPr algn="ctr">
              <a:spcBef>
                <a:spcPts val="20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pθ(x|z)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15d601f06898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83" y="3604916"/>
            <a:ext cx="8726129" cy="434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4370832"/>
            <a:ext cx="10362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ELBO gap  =  KL( qφ(z|x) ‖ pθ(z|x)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749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5129783"/>
            <a:ext cx="91440" cy="80467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The VAE Trade-off: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Optimizing a lower bound (ELBO) is stable and gives an explicit objective, but samples are often blurry due to the approximate posterior and reconstruction loss.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Kingma &amp; Welling, 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GAN: What It Optimizes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 w="19050">
            <a:solidFill>
              <a:srgbClr val="5B5B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B1F2A"/>
                </a:solidFill>
                <a:latin typeface="Arial"/>
              </a:rPr>
              <a:t>Noise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2607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52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696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Generator</a:t>
            </a:r>
          </a:p>
          <a:p>
            <a:pPr algn="ctr">
              <a:spcBef>
                <a:spcPts val="20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G(z)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1527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2D7FF9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Discriminator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0447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336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2A150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480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Real Data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79bf57fa781caf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43" y="3576385"/>
            <a:ext cx="8361808" cy="4916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4370832"/>
            <a:ext cx="10362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Equilibrium:  pg = pdata   and   D(x) = 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49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129783"/>
            <a:ext cx="91440" cy="80467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074920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The GAN Trade-off: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GANs generate sharp, high-quality samples, but training is unstable (a minimax game), suffers from mode collapse, and gives no explicit likelihood.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Goodfellow et al., 2014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Normalizing Flows: Exact Likelihood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106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3250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Base Dist.</a:t>
            </a:r>
          </a:p>
          <a:p>
            <a:pPr algn="ctr">
              <a:spcBef>
                <a:spcPts val="20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p(z)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7067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998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 w="19050">
            <a:solidFill>
              <a:srgbClr val="5B5B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142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B1F2A"/>
                </a:solidFill>
                <a:latin typeface="Arial"/>
              </a:rPr>
              <a:t>Invertible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5987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8907" y="16002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2D7FF9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0347" y="1600200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Target Dist.</a:t>
            </a:r>
          </a:p>
          <a:p>
            <a:pPr algn="ctr">
              <a:spcBef>
                <a:spcPts val="20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p(x)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75b73f3dfceca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626" y="3602721"/>
            <a:ext cx="7602442" cy="4389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4370832"/>
            <a:ext cx="10362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Change of Variables: the Jacobian determinant accounts for volume distortion under the invertible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749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5129783"/>
            <a:ext cx="91440" cy="80467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The Flow Trade-off: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Flows enable exact likelihood and efficient sampling, but require invertible architectures with tractable Jacobians — severely limiting expressivity.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14476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See the appendix for the detailed change-of-variables derivation.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[3]  Rezende &amp; Mohamed, 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The Generative Model Wish 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62288" y="1481328"/>
            <a:ext cx="2468880" cy="3520440"/>
          </a:xfrm>
          <a:prstGeom prst="roundRect">
            <a:avLst>
              <a:gd name="adj" fmla="val 4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81328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8A909C"/>
                </a:solidFill>
                <a:latin typeface="Arial"/>
              </a:rPr>
              <a:t>DESIRED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1481328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 spc="120">
                <a:solidFill>
                  <a:srgbClr val="8A909C"/>
                </a:solidFill>
                <a:latin typeface="Arial"/>
              </a:rPr>
              <a:t>VAE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7568" y="1481328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 spc="120">
                <a:solidFill>
                  <a:srgbClr val="8A909C"/>
                </a:solidFill>
                <a:latin typeface="Arial"/>
              </a:rPr>
              <a:t>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1481328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 spc="120">
                <a:solidFill>
                  <a:srgbClr val="8A909C"/>
                </a:solidFill>
                <a:latin typeface="Arial"/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2288" y="1481328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 spc="120">
                <a:solidFill>
                  <a:srgbClr val="5B5BD6"/>
                </a:solidFill>
                <a:latin typeface="Arial"/>
              </a:rPr>
              <a:t>THE IDEAL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Sharp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984248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5484D"/>
                </a:solidFill>
                <a:latin typeface="Arial"/>
              </a:rPr>
              <a:t>✗ Blurry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984248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Sharp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1984248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Sharp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1984248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5BD6"/>
                </a:solidFill>
                <a:latin typeface="Arial"/>
              </a:rPr>
              <a:t>✓ Sharp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87752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587752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Stable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2587752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587752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5484D"/>
                </a:solidFill>
                <a:latin typeface="Arial"/>
              </a:rPr>
              <a:t>✗ Unstable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587752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587752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5BD6"/>
                </a:solidFill>
                <a:latin typeface="Arial"/>
              </a:rPr>
              <a:t>✓ Stable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191256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191256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Explicit Likelihood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191256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9890B"/>
                </a:solidFill>
                <a:latin typeface="Arial"/>
              </a:rPr>
              <a:t>∼ Bound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3191256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5484D"/>
                </a:solidFill>
                <a:latin typeface="Arial"/>
              </a:rPr>
              <a:t>✗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3191256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Exact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3191256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5BD6"/>
                </a:solidFill>
                <a:latin typeface="Arial"/>
              </a:rPr>
              <a:t>✓ 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794760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794760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No Arch.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3794760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7568" y="3794760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Any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8" y="3794760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5484D"/>
                </a:solidFill>
                <a:latin typeface="Arial"/>
              </a:rPr>
              <a:t>✗ Invertible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379476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5BD6"/>
                </a:solidFill>
                <a:latin typeface="Arial"/>
              </a:rPr>
              <a:t>✓ Any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398264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398264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Computational Feasibility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0208" y="4398264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Tractable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8" y="4398264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2A150"/>
                </a:solidFill>
                <a:latin typeface="Arial"/>
              </a:rPr>
              <a:t>✓ Tractable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8" y="4398264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5484D"/>
                </a:solidFill>
                <a:latin typeface="Arial"/>
              </a:rPr>
              <a:t>✗ Costly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4398264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5BD6"/>
                </a:solidFill>
                <a:latin typeface="Arial"/>
              </a:rPr>
              <a:t>✓ Tractable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321808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321808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5BD6"/>
                </a:solidFill>
                <a:latin typeface="Arial"/>
              </a:rPr>
              <a:t>Diffusion Models aim to check all of these boxes.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Georgia"/>
              </a:rPr>
              <a:t>Energy Models &amp; 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The partition function Z   ·   The score function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The Normalization Constant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b11be3d8b8d8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98" y="1910337"/>
            <a:ext cx="2642419" cy="842764"/>
          </a:xfrm>
          <a:prstGeom prst="rect">
            <a:avLst/>
          </a:prstGeom>
        </p:spPr>
      </p:pic>
      <p:pic>
        <p:nvPicPr>
          <p:cNvPr id="7" name="Picture 6" descr="f73e247530aba3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674" y="3063240"/>
            <a:ext cx="2129467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6208" y="146304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664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5B5BD6"/>
                </a:solidFill>
                <a:latin typeface="Arial"/>
              </a:rPr>
              <a:t>ENERGY LANDSCAPE  E</a:t>
            </a:r>
            <a:r>
              <a:rPr sz="800" b="1" i="0">
                <a:solidFill>
                  <a:srgbClr val="5B5BD6"/>
                </a:solidFill>
                <a:latin typeface="Arial"/>
              </a:rPr>
              <a:t>θ</a:t>
            </a:r>
            <a:r>
              <a:rPr sz="1100" b="1" i="0">
                <a:solidFill>
                  <a:srgbClr val="5B5BD6"/>
                </a:solidFill>
                <a:latin typeface="Arial"/>
              </a:rPr>
              <a:t>(x)</a:t>
            </a:r>
          </a:p>
        </p:txBody>
      </p:sp>
      <p:pic>
        <p:nvPicPr>
          <p:cNvPr id="10" name="Picture 9" descr="ener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93392"/>
            <a:ext cx="4983480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0" y="21031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5484D"/>
                </a:solidFill>
                <a:latin typeface="Arial"/>
              </a:rPr>
              <a:t>High Energy</a:t>
            </a:r>
          </a:p>
          <a:p>
            <a:pPr algn="l"/>
            <a:r>
              <a:rPr sz="900" b="0" i="0">
                <a:solidFill>
                  <a:srgbClr val="E5484D"/>
                </a:solidFill>
                <a:latin typeface="Arial"/>
              </a:rPr>
              <a:t>(Low Density)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90779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2A150"/>
                </a:solidFill>
                <a:latin typeface="Arial"/>
              </a:rPr>
              <a:t>Low Energy</a:t>
            </a:r>
          </a:p>
          <a:p>
            <a:pPr algn="ctr"/>
            <a:r>
              <a:rPr sz="900" b="0" i="0">
                <a:solidFill>
                  <a:srgbClr val="12A150"/>
                </a:solidFill>
                <a:latin typeface="Arial"/>
              </a:rPr>
              <a:t>(High Density)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310128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C4351"/>
                </a:solidFill>
                <a:latin typeface="Arial"/>
              </a:rPr>
              <a:t>Probability density falls off exponentially as energy 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41648"/>
            <a:ext cx="11064240" cy="2194560"/>
          </a:xfrm>
          <a:prstGeom prst="roundRect">
            <a:avLst>
              <a:gd name="adj" fmla="val 4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4114800"/>
            <a:ext cx="91440" cy="204825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5484D"/>
                </a:solidFill>
                <a:latin typeface="Georgia"/>
              </a:rPr>
              <a:t>The MLE Gradient Problem</a:t>
            </a:r>
          </a:p>
        </p:txBody>
      </p:sp>
      <p:sp>
        <p:nvSpPr>
          <p:cNvPr id="17" name="Rounded Rectangle 16">
            <a:hlinkClick action="ppaction://hlinksldjump" r:id="rId6"/>
          </p:cNvPr>
          <p:cNvSpPr/>
          <p:nvPr/>
        </p:nvSpPr>
        <p:spPr>
          <a:xfrm>
            <a:off x="9509760" y="422452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6" action="ppaction://hlinksldjump"/>
              </a:rPr>
              <a:t>View Derivation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817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Directly maximizing the log-likelihood  log pθ(x)  for  x ∼ pdata(x)  is hard because the gradient of the normalization constant  Zθ  involves an intractable expectation:</a:t>
            </a:r>
          </a:p>
        </p:txBody>
      </p:sp>
      <p:pic>
        <p:nvPicPr>
          <p:cNvPr id="19" name="Picture 18" descr="4754d268525bf8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6066" y="5595748"/>
            <a:ext cx="4819562" cy="4213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Score Function: The Constant Cancels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55448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 spc="160">
                <a:solidFill>
                  <a:srgbClr val="5B5BD6"/>
                </a:solidFill>
                <a:latin typeface="Arial"/>
              </a:rPr>
              <a:t>THE SCORE FUNCTION</a:t>
            </a:r>
          </a:p>
        </p:txBody>
      </p:sp>
      <p:pic>
        <p:nvPicPr>
          <p:cNvPr id="7" name="Picture 6" descr="16868cf4a1617b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185" y="1927543"/>
            <a:ext cx="3261324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269748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C4351"/>
                </a:solidFill>
                <a:latin typeface="Arial"/>
              </a:rPr>
              <a:t>1. Unnormalized model:</a:t>
            </a:r>
          </a:p>
        </p:txBody>
      </p:sp>
      <p:pic>
        <p:nvPicPr>
          <p:cNvPr id="10" name="Picture 9" descr="e87e3ddb5ed5c7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244" y="2805367"/>
            <a:ext cx="4244550" cy="3511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3355848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5584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C4351"/>
                </a:solidFill>
                <a:latin typeface="Arial"/>
              </a:rPr>
              <a:t>2. Gradient w.r.t. x:</a:t>
            </a:r>
          </a:p>
        </p:txBody>
      </p:sp>
      <p:pic>
        <p:nvPicPr>
          <p:cNvPr id="13" name="Picture 12" descr="fabb3731fb3a3c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462067"/>
            <a:ext cx="4297680" cy="35448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014215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14215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C4351"/>
                </a:solidFill>
                <a:latin typeface="Arial"/>
              </a:rPr>
              <a:t>3. Result:</a:t>
            </a:r>
          </a:p>
        </p:txBody>
      </p:sp>
      <p:pic>
        <p:nvPicPr>
          <p:cNvPr id="16" name="Picture 15" descr="8aa9337292b341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964" y="4122103"/>
            <a:ext cx="2853110" cy="3511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6928" y="486460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4919472"/>
            <a:ext cx="91440" cy="603504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19472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Naive Score Matching Loss</a:t>
            </a:r>
          </a:p>
        </p:txBody>
      </p:sp>
      <p:pic>
        <p:nvPicPr>
          <p:cNvPr id="20" name="Picture 19" descr="0d0ac52245b852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5024603"/>
            <a:ext cx="6035040" cy="3932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5742432"/>
            <a:ext cx="91440" cy="603504"/>
          </a:xfrm>
          <a:prstGeom prst="roundRect">
            <a:avLst>
              <a:gd name="adj" fmla="val 50000"/>
            </a:avLst>
          </a:prstGeom>
          <a:solidFill>
            <a:srgbClr val="D9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4243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890B"/>
                </a:solidFill>
                <a:latin typeface="Arial"/>
              </a:rPr>
              <a:t>The 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687568"/>
            <a:ext cx="8503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We don’t know  ∇ₓ log pdata(x)  — we only have samples, not the density!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Georgia"/>
              </a:rPr>
              <a:t>Score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Hyvärinen’s objective   ·   The trace bottleneck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ICML 2005: Score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72184"/>
            <a:ext cx="91440" cy="85039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1790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F2A"/>
                </a:solidFill>
                <a:latin typeface="Arial"/>
              </a:rPr>
              <a:t>“Estimation of Non-Normalized Statistical Models by Score Matching”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8A909C"/>
                </a:solidFill>
                <a:latin typeface="Arial"/>
              </a:rPr>
              <a:t>Aapo Hyvärinen (2005)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06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 spc="160">
                <a:solidFill>
                  <a:srgbClr val="2D7FF9"/>
                </a:solidFill>
                <a:latin typeface="Arial"/>
              </a:rPr>
              <a:t>THE TRACTABLE OBJECTIVE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464040" y="274320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3" action="ppaction://hlinksldjump"/>
              </a:rPr>
              <a:t>View Full Derivation ↗</a:t>
            </a:r>
          </a:p>
        </p:txBody>
      </p:sp>
      <p:pic>
        <p:nvPicPr>
          <p:cNvPr id="12" name="Picture 11" descr="62447301f98d86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840" y="3298037"/>
            <a:ext cx="6786013" cy="62768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4754880"/>
            <a:ext cx="11064240" cy="1005840"/>
          </a:xfrm>
          <a:prstGeom prst="roundRect">
            <a:avLst>
              <a:gd name="adj" fmla="val 5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4809744"/>
            <a:ext cx="91440" cy="896112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515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This loss can be computed using only samples from the data distribution and the model’s score function — no normalization constant  Zθ  or unknown data density  pdata  is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[4]  Hyvärinen, 2005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Why Score Matching is Still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72184"/>
            <a:ext cx="91440" cy="167335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5484D"/>
                </a:solidFill>
                <a:latin typeface="Arial"/>
              </a:rPr>
              <a:t>THE TRACE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The Hyvärinen objective requires computing the divergence (trace of the Jacobian) of the score function:</a:t>
            </a:r>
          </a:p>
        </p:txBody>
      </p:sp>
      <p:pic>
        <p:nvPicPr>
          <p:cNvPr id="9" name="Picture 8" descr="8a5948bf83a186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647" y="2468879"/>
            <a:ext cx="224440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3657600"/>
            <a:ext cx="210312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7" y="3767328"/>
            <a:ext cx="306323" cy="306323"/>
          </a:xfrm>
          <a:prstGeom prst="roundRect">
            <a:avLst>
              <a:gd name="adj" fmla="val 12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188" y="4293108"/>
            <a:ext cx="306323" cy="306323"/>
          </a:xfrm>
          <a:prstGeom prst="roundRect">
            <a:avLst>
              <a:gd name="adj" fmla="val 12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29967" y="4818888"/>
            <a:ext cx="306323" cy="306323"/>
          </a:xfrm>
          <a:prstGeom prst="roundRect">
            <a:avLst>
              <a:gd name="adj" fmla="val 12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55748" y="5344668"/>
            <a:ext cx="306323" cy="306323"/>
          </a:xfrm>
          <a:prstGeom prst="roundRect">
            <a:avLst>
              <a:gd name="adj" fmla="val 12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9319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5484D"/>
                </a:solidFill>
                <a:latin typeface="Georgia"/>
              </a:rPr>
              <a:t>O(d)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5720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For high-dimensional data (e.g., 1024×1024 images), computing this trace is </a:t>
            </a:r>
            <a:r>
              <a:rPr sz="1350" b="1" i="0">
                <a:solidFill>
                  <a:srgbClr val="E5484D"/>
                </a:solidFill>
                <a:latin typeface="Arial"/>
              </a:rPr>
              <a:t>prohibitively slow.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We need a way to estimate this trace without computing all  d  diagonal elements explicitly.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The Trace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868781a113ac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995" y="1843383"/>
            <a:ext cx="8901705" cy="14704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26110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626864"/>
            <a:ext cx="48097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To compute the trace, we need </a:t>
            </a:r>
            <a:r>
              <a:rPr sz="1400" b="1" i="0">
                <a:solidFill>
                  <a:srgbClr val="E5484D"/>
                </a:solidFill>
                <a:latin typeface="Arial"/>
              </a:rPr>
              <a:t>d separate backward passes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— one for each input dimension  xᵢ.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426110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4626864"/>
            <a:ext cx="48097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For 1024×1024 images,  </a:t>
            </a:r>
            <a:r>
              <a:rPr sz="1400" b="1" i="0">
                <a:solidFill>
                  <a:srgbClr val="E5484D"/>
                </a:solidFill>
                <a:latin typeface="Arial"/>
              </a:rPr>
              <a:t>d ≈ 10⁶.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Computing the exact trace is impossible on modern GPUs.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Georgia"/>
              </a:rPr>
              <a:t>Scalable Estimators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Hutchinson’s trick   ·   VJP / JVP   ·   Sliced score matching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Hutchinson’s Trace Estimator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500a96ff748df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05" y="1929369"/>
            <a:ext cx="3858283" cy="4389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306324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3118104"/>
            <a:ext cx="91440" cy="1490472"/>
          </a:xfrm>
          <a:prstGeom prst="roundRect">
            <a:avLst>
              <a:gd name="adj" fmla="val 50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2D7FF9"/>
                </a:solidFill>
                <a:latin typeface="Arial"/>
              </a:rPr>
              <a:t>REQUIREMENT FOR  v</a:t>
            </a:r>
          </a:p>
        </p:txBody>
      </p:sp>
      <p:pic>
        <p:nvPicPr>
          <p:cNvPr id="10" name="Picture 9" descr="1e137ff14643dc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7" y="3707650"/>
            <a:ext cx="8686800" cy="3570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42245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3C4351"/>
                </a:solidFill>
                <a:latin typeface="Arial"/>
              </a:rPr>
              <a:t>Common choices: Rademacher  (v ∈ {−1, 1}ᵈ)  or Gaussian  (v ∼ N(0, I)).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5074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0" i="1">
                <a:solidFill>
                  <a:srgbClr val="5B5BD6"/>
                </a:solidFill>
                <a:latin typeface="Arial"/>
              </a:rPr>
              <a:t>“We replace the sum of d diagonal elements with an expectation over quadratic forms.”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4907127" y="589788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4" action="ppaction://hlinksldjump"/>
              </a:rPr>
              <a:t>View the Proof 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[5]  Hutchinson, 1990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The VJP / JVP Trick: No Jacobian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48aea23b7ba6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951" y="1702964"/>
            <a:ext cx="4889792" cy="434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This is a </a:t>
            </a:r>
            <a:r>
              <a:rPr sz="1300" b="1" i="0">
                <a:solidFill>
                  <a:srgbClr val="5B5BD6"/>
                </a:solidFill>
                <a:latin typeface="Arial"/>
              </a:rPr>
              <a:t>Vector–Jacobian Product (VJP)</a:t>
            </a:r>
            <a:r>
              <a:rPr sz="1300" b="0" i="0">
                <a:solidFill>
                  <a:srgbClr val="3C4351"/>
                </a:solidFill>
                <a:latin typeface="Arial"/>
              </a:rPr>
              <a:t> followed by a dot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8A909C"/>
                </a:solidFill>
                <a:latin typeface="Arial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9718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 spc="120">
                <a:solidFill>
                  <a:srgbClr val="8A909C"/>
                </a:solidFill>
                <a:latin typeface="Arial"/>
              </a:rPr>
              <a:t>EXACT 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7" y="29718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 spc="120">
                <a:solidFill>
                  <a:srgbClr val="8A909C"/>
                </a:solidFill>
                <a:latin typeface="Arial"/>
              </a:rPr>
              <a:t>STOCHASTIC ESTIMATOR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74720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Jacobian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74720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E5484D"/>
                </a:solidFill>
                <a:latin typeface="Arial"/>
              </a:rPr>
              <a:t>Requires Full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7" y="3474720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2A150"/>
                </a:solidFill>
                <a:latin typeface="Arial"/>
              </a:rPr>
              <a:t>Never Materialized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133087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133087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Memory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133087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E5484D"/>
                </a:solidFill>
                <a:latin typeface="Arial"/>
              </a:rPr>
              <a:t>O(d²)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4133087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2A150"/>
                </a:solidFill>
                <a:latin typeface="Arial"/>
              </a:rPr>
              <a:t>O(d)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791456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791456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Compute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4791456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E5484D"/>
                </a:solidFill>
                <a:latin typeface="Arial"/>
              </a:rPr>
              <a:t>d backward passes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4791456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2A150"/>
                </a:solidFill>
                <a:latin typeface="Arial"/>
              </a:rPr>
              <a:t>1 backward 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7241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24144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5BD6"/>
                </a:solidFill>
                <a:latin typeface="Arial"/>
              </a:rPr>
              <a:t>Modern autodiff libraries (JAX, PyTorch) compute VJPs in a single pass.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Sliced Score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88ea0519732fb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837" y="1789277"/>
            <a:ext cx="8274020" cy="627684"/>
          </a:xfrm>
          <a:prstGeom prst="rect">
            <a:avLst/>
          </a:prstGeom>
        </p:spPr>
      </p:pic>
      <p:pic>
        <p:nvPicPr>
          <p:cNvPr id="7" name="Picture 6" descr="c45f8fc6195276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047" y="2629220"/>
            <a:ext cx="5943600" cy="3193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38328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6210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2D7FF9"/>
                </a:solidFill>
                <a:latin typeface="Arial"/>
              </a:rPr>
              <a:t>THE “SLICED”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86784"/>
            <a:ext cx="480974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Instead of matching the full </a:t>
            </a:r>
            <a:r>
              <a:rPr sz="1350" b="1" i="0">
                <a:solidFill>
                  <a:srgbClr val="5B5BD6"/>
                </a:solidFill>
                <a:latin typeface="Arial"/>
              </a:rPr>
              <a:t>d-dimensional</a:t>
            </a:r>
            <a:r>
              <a:rPr sz="1350" b="0" i="0">
                <a:solidFill>
                  <a:srgbClr val="3C4351"/>
                </a:solidFill>
                <a:latin typeface="Arial"/>
              </a:rPr>
              <a:t> score vector, we match the </a:t>
            </a:r>
            <a:r>
              <a:rPr sz="1350" b="1" i="0">
                <a:solidFill>
                  <a:srgbClr val="5B5BD6"/>
                </a:solidFill>
                <a:latin typeface="Arial"/>
              </a:rPr>
              <a:t>1D projection</a:t>
            </a:r>
            <a:r>
              <a:rPr sz="1350" b="0" i="0">
                <a:solidFill>
                  <a:srgbClr val="3C4351"/>
                </a:solidFill>
                <a:latin typeface="Arial"/>
              </a:rPr>
              <a:t> (slice) of the score in random directions 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38328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36210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2D7FF9"/>
                </a:solidFill>
                <a:latin typeface="Arial"/>
              </a:rPr>
              <a:t>EFFICIENT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3986784"/>
            <a:ext cx="480974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Using the Hutchinson trick, this objective needs only </a:t>
            </a:r>
            <a:r>
              <a:rPr sz="1350" b="1" i="0">
                <a:solidFill>
                  <a:srgbClr val="5B5BD6"/>
                </a:solidFill>
                <a:latin typeface="Arial"/>
              </a:rPr>
              <a:t>first-order gradients</a:t>
            </a:r>
            <a:r>
              <a:rPr sz="1350" b="0" i="0">
                <a:solidFill>
                  <a:srgbClr val="3C4351"/>
                </a:solidFill>
                <a:latin typeface="Arial"/>
              </a:rPr>
              <a:t> (VJPs), making it scalable to massive datasets and high-res images.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548640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0" i="1">
                <a:solidFill>
                  <a:srgbClr val="5B5BD6"/>
                </a:solidFill>
                <a:latin typeface="Arial"/>
              </a:rPr>
              <a:t>“We bypass the second-order pain by projecting it into a scalar problem.”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Song, Garg, Shi &amp; Ermon, 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SSM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888c12ab5053b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581" y="1697837"/>
            <a:ext cx="7896532" cy="627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542032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We’ve solved the </a:t>
            </a:r>
            <a:r>
              <a:rPr sz="1300" b="1" i="0">
                <a:solidFill>
                  <a:srgbClr val="E5484D"/>
                </a:solidFill>
                <a:latin typeface="Arial"/>
              </a:rPr>
              <a:t>Trace Problem</a:t>
            </a:r>
            <a:r>
              <a:rPr sz="1300" b="0" i="0">
                <a:solidFill>
                  <a:srgbClr val="3C4351"/>
                </a:solidFill>
                <a:latin typeface="Arial"/>
              </a:rPr>
              <a:t>, but at a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4612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48386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HIGH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849624"/>
            <a:ext cx="48097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The double expectation over data and v makes training noisy and slow to converge.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24612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348386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3849624"/>
            <a:ext cx="48097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Score matching is still unstable in low-density regions where the model has never seen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534924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1">
                <a:solidFill>
                  <a:srgbClr val="E5484D"/>
                </a:solidFill>
                <a:latin typeface="Arial"/>
              </a:rPr>
              <a:t>“Can we make the score a simple supervised target?”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Georgia"/>
              </a:rPr>
              <a:t>Denoising Score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Vincent’s identity   ·   The DSM objective   ·   Multi-scale noise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The Direct Learning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233172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1848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Can we make the score a simple supervised target?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" y="2286000"/>
            <a:ext cx="10058400" cy="1188719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e00f8ae90489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92" y="2566517"/>
            <a:ext cx="6000311" cy="627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We don’t know  sdata(x).  We only have samples from  pdata(x).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We need a way to create a “ground truth” score that we can regress against.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Supervised Denoising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1848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The Denoising Autoencoder (DAE)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" y="2286000"/>
            <a:ext cx="10058400" cy="105156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94ec386a286b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203" y="2596699"/>
            <a:ext cx="5429688" cy="4301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52447" y="40462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2447" y="404622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7FF9"/>
                </a:solidFill>
                <a:latin typeface="Arial"/>
              </a:rPr>
              <a:t>Clean Data</a:t>
            </a:r>
          </a:p>
          <a:p>
            <a:pPr algn="ctr">
              <a:spcBef>
                <a:spcPts val="300"/>
              </a:spcBef>
            </a:pPr>
            <a:r>
              <a:rPr sz="1600" b="1" i="0">
                <a:solidFill>
                  <a:srgbClr val="1B1F2A"/>
                </a:solidFill>
                <a:latin typeface="Georgia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42519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1407" y="40462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1407" y="404622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7FF9"/>
                </a:solidFill>
                <a:latin typeface="Arial"/>
              </a:rPr>
              <a:t>Noisy Input</a:t>
            </a:r>
          </a:p>
          <a:p>
            <a:pPr algn="ctr">
              <a:spcBef>
                <a:spcPts val="300"/>
              </a:spcBef>
            </a:pPr>
            <a:r>
              <a:rPr sz="1600" b="1" i="0">
                <a:solidFill>
                  <a:srgbClr val="1B1F2A"/>
                </a:solidFill>
                <a:latin typeface="Georgia"/>
              </a:rPr>
              <a:t>x̃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6007" y="42519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909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0367" y="40462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367" y="404622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7FF9"/>
                </a:solidFill>
                <a:latin typeface="Arial"/>
              </a:rPr>
              <a:t>Prediction</a:t>
            </a:r>
          </a:p>
          <a:p>
            <a:pPr algn="ctr">
              <a:spcBef>
                <a:spcPts val="300"/>
              </a:spcBef>
            </a:pPr>
            <a:r>
              <a:rPr sz="1600" b="1" i="0">
                <a:solidFill>
                  <a:srgbClr val="1B1F2A"/>
                </a:solidFill>
                <a:latin typeface="Georgia"/>
              </a:rPr>
              <a:t>fθ(x̃)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5440679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0" i="1">
                <a:solidFill>
                  <a:srgbClr val="2D7FF9"/>
                </a:solidFill>
                <a:latin typeface="Arial"/>
              </a:rPr>
              <a:t>“We know the ground truth x, so we can supervise the reconstruction.”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[7]  Vincent, Larochelle, Bengio &amp; Manzagol, 2008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Vincent 2011: Denoiser  ⟺ 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bd9c444d733cf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083" y="1928263"/>
            <a:ext cx="4999527" cy="715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247" y="3291840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0" i="1">
                <a:solidFill>
                  <a:srgbClr val="3C4351"/>
                </a:solidFill>
                <a:latin typeface="Arial"/>
              </a:rPr>
              <a:t>“The score of the smoothed density is exactly proportional to the optimal denoising direction.”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2628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8A909C"/>
                </a:solidFill>
                <a:latin typeface="Arial"/>
              </a:rPr>
              <a:t>Want to see the full derivation?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449927" y="4892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3" action="ppaction://hlinksldjump"/>
              </a:rPr>
              <a:t>View Full Derivation (Appendix)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[8]  Vincent, 2011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Modern DSM Training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1848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The Denoising Score Matching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" y="2286000"/>
            <a:ext cx="10058400" cy="105156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aab53dfb526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984" y="2596699"/>
            <a:ext cx="8230126" cy="4301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SUPERVISED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The target  ∇x̃ log p(x̃|x)  is just the noise direction  (x − x̃)/σ².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NO TRACE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This is a simple </a:t>
            </a:r>
            <a:r>
              <a:rPr sz="1400" b="1" i="0">
                <a:solidFill>
                  <a:srgbClr val="12A150"/>
                </a:solidFill>
                <a:latin typeface="Arial"/>
              </a:rPr>
              <a:t>L2 regression.</a:t>
            </a:r>
            <a:r>
              <a:rPr sz="1400" b="0" i="0">
                <a:solidFill>
                  <a:srgbClr val="3C4351"/>
                </a:solidFill>
                <a:latin typeface="Arial"/>
              </a:rPr>
              <a:t> No second-order gradients, no Jacobian trace, no pain.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Multi-Sigma: The Denoising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205740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1848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Multiple Noise Levels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" y="228600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9a03be2fd7435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736" y="2598349"/>
            <a:ext cx="4380622" cy="2897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86687" y="3886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86687" y="4709160"/>
            <a:ext cx="2011680" cy="91440"/>
          </a:xfrm>
          <a:prstGeom prst="roundRect">
            <a:avLst>
              <a:gd name="adj" fmla="val 50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6687" y="403250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150">
                <a:solidFill>
                  <a:srgbClr val="8A909C"/>
                </a:solidFill>
                <a:latin typeface="Arial"/>
              </a:rPr>
              <a:t>NOISE</a:t>
            </a:r>
          </a:p>
        </p:txBody>
      </p:sp>
      <p:pic>
        <p:nvPicPr>
          <p:cNvPr id="12" name="Picture 11" descr="9256948c183ecb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509" y="4370459"/>
            <a:ext cx="316036" cy="2019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855567" y="3886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55567" y="4709160"/>
            <a:ext cx="2011680" cy="91440"/>
          </a:xfrm>
          <a:prstGeom prst="roundRect">
            <a:avLst>
              <a:gd name="adj" fmla="val 50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5567" y="403250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150">
                <a:solidFill>
                  <a:srgbClr val="8A909C"/>
                </a:solidFill>
                <a:latin typeface="Arial"/>
              </a:rPr>
              <a:t>COARSE</a:t>
            </a:r>
          </a:p>
        </p:txBody>
      </p:sp>
      <p:pic>
        <p:nvPicPr>
          <p:cNvPr id="16" name="Picture 15" descr="7d4c879ff57963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999" y="4370459"/>
            <a:ext cx="324815" cy="201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324447" y="3886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4709160"/>
            <a:ext cx="2011680" cy="91440"/>
          </a:xfrm>
          <a:prstGeom prst="roundRect">
            <a:avLst>
              <a:gd name="adj" fmla="val 50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403250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150">
                <a:solidFill>
                  <a:srgbClr val="8A909C"/>
                </a:solidFill>
                <a:latin typeface="Arial"/>
              </a:rPr>
              <a:t>FINE</a:t>
            </a:r>
          </a:p>
        </p:txBody>
      </p:sp>
      <p:pic>
        <p:nvPicPr>
          <p:cNvPr id="20" name="Picture 19" descr="ee94cbd4b9a43b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7879" y="4368265"/>
            <a:ext cx="324815" cy="20630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793327" y="3886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93327" y="4709160"/>
            <a:ext cx="2011680" cy="91440"/>
          </a:xfrm>
          <a:prstGeom prst="roundRect">
            <a:avLst>
              <a:gd name="adj" fmla="val 50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3327" y="403250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150">
                <a:solidFill>
                  <a:srgbClr val="8A909C"/>
                </a:solidFill>
                <a:latin typeface="Arial"/>
              </a:rPr>
              <a:t>DATA</a:t>
            </a:r>
          </a:p>
        </p:txBody>
      </p:sp>
      <p:pic>
        <p:nvPicPr>
          <p:cNvPr id="24" name="Picture 23" descr="73c28f3f38b1f9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423" y="4370459"/>
            <a:ext cx="377488" cy="201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8047" y="5074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0" i="1">
                <a:solidFill>
                  <a:srgbClr val="3C4351"/>
                </a:solidFill>
                <a:latin typeface="Arial"/>
              </a:rPr>
              <a:t>“We learn to denoise at every scale, from pure noise to fine data details.”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[11]  Song &amp; Ermon,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Georgia"/>
              </a:rPr>
              <a:t>Modern Diffusion &amp;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ε-prediction   ·   The score field   ·   Langevin dynamics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Modern Diffusion Parameterization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1848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ε-Prediction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" y="2286000"/>
            <a:ext cx="10058400" cy="105156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ff37693310a8f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83" y="2596699"/>
            <a:ext cx="5495529" cy="4301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EQUIVALENCE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Predicting the noise  ε  is mathematically equivalent to predicting the score or the clean image  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NUMERICAL 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In practice, predicting the unit-variance noise is more stable than predicting a score that can explode as  σ → 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[12]  Ho, Jain &amp; Abbeel,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Following the Score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23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1598179"/>
            <a:ext cx="8869680" cy="334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647" y="5212079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0" i="1">
                <a:solidFill>
                  <a:srgbClr val="5B5BD6"/>
                </a:solidFill>
                <a:latin typeface="Arial"/>
              </a:rPr>
              <a:t>“The score field acts as a guide, pushing noisy points from high-entropy regions back toward the Two Moons data distribution.”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Langevin Dynamics: Sampling from the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1848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Georgia"/>
              </a:rPr>
              <a:t>The Langevin Update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" y="2286000"/>
            <a:ext cx="10058400" cy="105156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bc6063de50f8b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316" y="2601088"/>
            <a:ext cx="6351463" cy="4213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2D7FF9"/>
                </a:solidFill>
                <a:latin typeface="Arial"/>
              </a:rPr>
              <a:t>GRADIENT ASCENT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The term  ∇ₓ log p(xₜ)  pushes the sample toward regions of high probability density.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069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2D7FF9"/>
                </a:solidFill>
                <a:latin typeface="Arial"/>
              </a:rPr>
              <a:t>NOISE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6725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C4351"/>
                </a:solidFill>
                <a:latin typeface="Arial"/>
              </a:rPr>
              <a:t>The term  √(2η) εₜ  prevents the sampler from getting stuck in local modes, ensuring exploration.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[10]  Welling &amp; Teh, 2011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Three Equivalent Parameterizations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6002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8A909C"/>
                </a:solidFill>
                <a:latin typeface="Arial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1600200"/>
            <a:ext cx="28072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100">
                <a:solidFill>
                  <a:srgbClr val="8A909C"/>
                </a:solidFill>
                <a:latin typeface="Arial"/>
              </a:rPr>
              <a:t>SCORE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25896" y="1600200"/>
            <a:ext cx="28072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100">
                <a:solidFill>
                  <a:srgbClr val="8A909C"/>
                </a:solidFill>
                <a:latin typeface="Arial"/>
              </a:rPr>
              <a:t>NOISE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3104" y="1600200"/>
            <a:ext cx="27980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100">
                <a:solidFill>
                  <a:srgbClr val="8A909C"/>
                </a:solidFill>
                <a:latin typeface="Arial"/>
              </a:rPr>
              <a:t>DATA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What we model</a:t>
            </a:r>
          </a:p>
        </p:txBody>
      </p:sp>
      <p:pic>
        <p:nvPicPr>
          <p:cNvPr id="10" name="Picture 9" descr="9af4c8e415b9d9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253" y="2384743"/>
            <a:ext cx="1128076" cy="351152"/>
          </a:xfrm>
          <a:prstGeom prst="rect">
            <a:avLst/>
          </a:prstGeom>
        </p:spPr>
      </p:pic>
      <p:pic>
        <p:nvPicPr>
          <p:cNvPr id="11" name="Picture 10" descr="f7bf58f26eeef9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61" y="2384743"/>
            <a:ext cx="1128076" cy="351152"/>
          </a:xfrm>
          <a:prstGeom prst="rect">
            <a:avLst/>
          </a:prstGeom>
        </p:spPr>
      </p:pic>
      <p:pic>
        <p:nvPicPr>
          <p:cNvPr id="12" name="Picture 11" descr="305bfcdacf5212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540" y="2384743"/>
            <a:ext cx="1163191" cy="3511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3017520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0175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Objective</a:t>
            </a:r>
          </a:p>
        </p:txBody>
      </p:sp>
      <p:pic>
        <p:nvPicPr>
          <p:cNvPr id="15" name="Picture 14" descr="909322af89e448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021" y="3277196"/>
            <a:ext cx="2260541" cy="395046"/>
          </a:xfrm>
          <a:prstGeom prst="rect">
            <a:avLst/>
          </a:prstGeom>
        </p:spPr>
      </p:pic>
      <p:pic>
        <p:nvPicPr>
          <p:cNvPr id="16" name="Picture 15" descr="15ff6aabecbba5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974" y="3277196"/>
            <a:ext cx="1387050" cy="395046"/>
          </a:xfrm>
          <a:prstGeom prst="rect">
            <a:avLst/>
          </a:prstGeom>
        </p:spPr>
      </p:pic>
      <p:pic>
        <p:nvPicPr>
          <p:cNvPr id="17" name="Picture 16" descr="599903757cece2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3495" y="3277196"/>
            <a:ext cx="1457281" cy="39504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66928" y="3931920"/>
            <a:ext cx="11064240" cy="10972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9319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8" y="3931920"/>
            <a:ext cx="28072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5484D"/>
                </a:solidFill>
                <a:latin typeface="Arial"/>
              </a:rPr>
              <a:t>Can Explode (σ →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3931920"/>
            <a:ext cx="28072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A150"/>
                </a:solidFill>
                <a:latin typeface="Arial"/>
              </a:rPr>
              <a:t>Most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3" y="3931920"/>
            <a:ext cx="27980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D7FF9"/>
                </a:solidFill>
                <a:latin typeface="Arial"/>
              </a:rPr>
              <a:t>Good for Low SNR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" y="5440679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0" i="1">
                <a:solidFill>
                  <a:srgbClr val="5B5BD6"/>
                </a:solidFill>
                <a:latin typeface="Arial"/>
              </a:rPr>
              <a:t>“While mathematically equivalent, noise prediction has become the industry standard for stable, high-quality diffusion models.”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Georgia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Full derivations and supporting proofs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MLE gradient   ·   Hyvärinen score matching   ·   Vincent’s identity   ·   Change of variables   ·   Hutchinson trace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MLE Gradient Derivation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64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83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GRADIENT OF THE LOG-PARTITION</a:t>
            </a:r>
          </a:p>
        </p:txBody>
      </p:sp>
      <p:pic>
        <p:nvPicPr>
          <p:cNvPr id="7" name="Picture 6" descr="9e2c885ef7b108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89" y="2341373"/>
            <a:ext cx="10139516" cy="12334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0690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291c71d53c71b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456" y="4201668"/>
            <a:ext cx="4366781" cy="594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5120640"/>
            <a:ext cx="5394960" cy="960120"/>
          </a:xfrm>
          <a:prstGeom prst="roundRect">
            <a:avLst>
              <a:gd name="adj" fmla="val 7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5175503"/>
            <a:ext cx="91440" cy="850392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120640"/>
            <a:ext cx="482803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150"/>
                </a:solidFill>
                <a:latin typeface="Arial"/>
              </a:rPr>
              <a:t>Positive Phase (Data):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push energy DOWN on real data points to increase their probability.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5120640"/>
            <a:ext cx="5394960" cy="960120"/>
          </a:xfrm>
          <a:prstGeom prst="roundRect">
            <a:avLst>
              <a:gd name="adj" fmla="val 7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5175503"/>
            <a:ext cx="91440" cy="85039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120640"/>
            <a:ext cx="482803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484D"/>
                </a:solidFill>
                <a:latin typeface="Arial"/>
              </a:rPr>
              <a:t>Negative Phase (Model):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push energy UP on model samples to decrease their probability.</a:t>
            </a:r>
          </a:p>
        </p:txBody>
      </p:sp>
      <p:sp>
        <p:nvSpPr>
          <p:cNvPr id="16" name="Rounded Rectangle 15">
            <a:hlinkClick action="ppaction://hlinksldjump" r:id="rId4"/>
          </p:cNvPr>
          <p:cNvSpPr/>
          <p:nvPr/>
        </p:nvSpPr>
        <p:spPr>
          <a:xfrm>
            <a:off x="566928" y="626364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4" action="ppaction://hlinksldjump"/>
              </a:rPr>
              <a:t>← Back to Energy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Hyvärinen Derivation (Part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373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1 — SETUP &amp; GOAL</a:t>
            </a:r>
          </a:p>
        </p:txBody>
      </p:sp>
      <p:pic>
        <p:nvPicPr>
          <p:cNvPr id="7" name="Picture 6" descr="70cc9c67f805f9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515" y="2176272"/>
            <a:ext cx="5773064" cy="315468"/>
          </a:xfrm>
          <a:prstGeom prst="rect">
            <a:avLst/>
          </a:prstGeom>
        </p:spPr>
      </p:pic>
      <p:pic>
        <p:nvPicPr>
          <p:cNvPr id="8" name="Picture 7" descr="7e5dc880c6961c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98" y="2601468"/>
            <a:ext cx="3092299" cy="3154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29184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747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2 — EXPAND THE SQUARE</a:t>
            </a:r>
          </a:p>
        </p:txBody>
      </p:sp>
      <p:pic>
        <p:nvPicPr>
          <p:cNvPr id="11" name="Picture 10" descr="6ea1ac7d0def20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7" y="3925607"/>
            <a:ext cx="10424160" cy="405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4434840"/>
            <a:ext cx="104790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8A909C"/>
                </a:solidFill>
                <a:latin typeface="Arial"/>
              </a:rPr>
              <a:t>The third term is constant in θ. The second (highlighted) term is the “nasty” one.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566928" y="5120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5" action="ppaction://hlinksldjump"/>
              </a:rPr>
              <a:t>← Back to Score Matching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9710928" y="5120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6" action="ppaction://hlinksldjump"/>
              </a:rPr>
              <a:t>Next: Part 2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Hyvärinen Derivation (Part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406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373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3A — INTEGRATION BY PARTS</a:t>
            </a:r>
          </a:p>
        </p:txBody>
      </p:sp>
      <p:pic>
        <p:nvPicPr>
          <p:cNvPr id="7" name="Picture 6" descr="f5d52faefc0b5e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11008"/>
            <a:ext cx="4800600" cy="462047"/>
          </a:xfrm>
          <a:prstGeom prst="rect">
            <a:avLst/>
          </a:prstGeom>
        </p:spPr>
      </p:pic>
      <p:pic>
        <p:nvPicPr>
          <p:cNvPr id="8" name="Picture 7" descr="9966f2dbb5f234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109181"/>
            <a:ext cx="4800600" cy="5481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" y="3840480"/>
            <a:ext cx="4855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8A909C"/>
                </a:solidFill>
                <a:latin typeface="Arial"/>
              </a:rPr>
              <a:t>The boundary term vanishes.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554480"/>
            <a:ext cx="54406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7373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3B — SCORE MATCHING</a:t>
            </a:r>
          </a:p>
        </p:txBody>
      </p:sp>
      <p:pic>
        <p:nvPicPr>
          <p:cNvPr id="12" name="Picture 11" descr="c5c5af9bd16cb0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7" y="2328853"/>
            <a:ext cx="4800600" cy="581804"/>
          </a:xfrm>
          <a:prstGeom prst="rect">
            <a:avLst/>
          </a:prstGeom>
        </p:spPr>
      </p:pic>
      <p:pic>
        <p:nvPicPr>
          <p:cNvPr id="13" name="Picture 12" descr="49f09e7fbb2b62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7" y="3309225"/>
            <a:ext cx="4800600" cy="6144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52628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268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4A47C2"/>
                </a:solidFill>
                <a:latin typeface="Arial"/>
              </a:rPr>
              <a:t>STEP 4 — FINAL OBJECTIVE</a:t>
            </a:r>
          </a:p>
        </p:txBody>
      </p:sp>
      <p:pic>
        <p:nvPicPr>
          <p:cNvPr id="16" name="Picture 15" descr="9274559aaf514dc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5653" y="4887468"/>
            <a:ext cx="4860387" cy="502920"/>
          </a:xfrm>
          <a:prstGeom prst="rect">
            <a:avLst/>
          </a:prstGeom>
        </p:spPr>
      </p:pic>
      <p:sp>
        <p:nvSpPr>
          <p:cNvPr id="17" name="Rounded Rectangle 16">
            <a:hlinkClick action="ppaction://hlinksldjump" r:id="rId7"/>
          </p:cNvPr>
          <p:cNvSpPr/>
          <p:nvPr/>
        </p:nvSpPr>
        <p:spPr>
          <a:xfrm>
            <a:off x="566928" y="57150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7" action="ppaction://hlinksldjump"/>
              </a:rPr>
              <a:t>← Part 1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9253728" y="57150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8" action="ppaction://hlinksldjump"/>
              </a:rPr>
              <a:t>Score Matching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Vincent Derivation (Part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373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1 — GAUSSIAN SMOOTHING &amp; SCORE</a:t>
            </a:r>
          </a:p>
        </p:txBody>
      </p:sp>
      <p:pic>
        <p:nvPicPr>
          <p:cNvPr id="7" name="Picture 6" descr="c49e3535037026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7" y="2183400"/>
            <a:ext cx="10424160" cy="726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29184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4747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2 — DIFFERENTIATE THE KERNEL</a:t>
            </a:r>
          </a:p>
        </p:txBody>
      </p:sp>
      <p:pic>
        <p:nvPicPr>
          <p:cNvPr id="10" name="Picture 9" descr="8e37465804f6df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406" y="3913632"/>
            <a:ext cx="3135282" cy="361188"/>
          </a:xfrm>
          <a:prstGeom prst="rect">
            <a:avLst/>
          </a:prstGeom>
        </p:spPr>
      </p:pic>
      <p:pic>
        <p:nvPicPr>
          <p:cNvPr id="11" name="Picture 10" descr="8229f544aff5e3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37" y="4384548"/>
            <a:ext cx="3080020" cy="361188"/>
          </a:xfrm>
          <a:prstGeom prst="rect">
            <a:avLst/>
          </a:prstGeom>
        </p:spPr>
      </p:pic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566928" y="52120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5" action="ppaction://hlinksldjump"/>
              </a:rPr>
              <a:t>← Back to Denoising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9710928" y="52120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6" action="ppaction://hlinksldjump"/>
              </a:rPr>
              <a:t>Next: Part 2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Vincent Derivation (Part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373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3 — CONVERT TO SCORE</a:t>
            </a:r>
          </a:p>
        </p:txBody>
      </p:sp>
      <p:pic>
        <p:nvPicPr>
          <p:cNvPr id="7" name="Picture 6" descr="a6d60053a2175f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93" y="2176272"/>
            <a:ext cx="9000308" cy="8321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38328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4 — IDENTIFY BAYES’ POSTERIOR</a:t>
            </a:r>
          </a:p>
        </p:txBody>
      </p:sp>
      <p:pic>
        <p:nvPicPr>
          <p:cNvPr id="10" name="Picture 9" descr="fee34b2d5d55ad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7" y="4044253"/>
            <a:ext cx="10424160" cy="753740"/>
          </a:xfrm>
          <a:prstGeom prst="rect">
            <a:avLst/>
          </a:prstGeom>
        </p:spPr>
      </p:pic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566928" y="53035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4" action="ppaction://hlinksldjump"/>
              </a:rPr>
              <a:t>← Back to Part 1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9710928" y="53035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5" action="ppaction://hlinksldjump"/>
              </a:rPr>
              <a:t>Next: Part 3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Vincent Derivation (Part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373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STEP 5 — LINEARITY OF EXPECTATION</a:t>
            </a:r>
          </a:p>
        </p:txBody>
      </p:sp>
      <p:pic>
        <p:nvPicPr>
          <p:cNvPr id="7" name="Picture 6" descr="746be9d307bb70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7" y="2235170"/>
            <a:ext cx="10424160" cy="7143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4290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4A47C2"/>
                </a:solidFill>
                <a:latin typeface="Arial"/>
              </a:rPr>
              <a:t>STEP 6 — THE FINAL IDENTITY</a:t>
            </a:r>
          </a:p>
        </p:txBody>
      </p:sp>
      <p:pic>
        <p:nvPicPr>
          <p:cNvPr id="10" name="Picture 9" descr="742a645a780537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561" y="3726179"/>
            <a:ext cx="3344572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5262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B5BD6"/>
                </a:solidFill>
                <a:latin typeface="Arial"/>
              </a:rPr>
              <a:t>Intuition: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the score points from the noisy sample  x̃  directly toward the posterior mean of the clean data.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566928" y="53492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4" action="ppaction://hlinksldjump"/>
              </a:rPr>
              <a:t>← Back to Part 2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9253728" y="5349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5" action="ppaction://hlinksldjump"/>
              </a:rPr>
              <a:t>Back to Denoising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Change of Variables (Part 1 — Probability Conservation)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The change-of-variables formula is core to normalizing flows: it describes how densities move under an invertible mapping. We start from the requirement that probability is conserved.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0280"/>
            <a:ext cx="5440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4231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SETUP</a:t>
            </a:r>
          </a:p>
        </p:txBody>
      </p:sp>
      <p:pic>
        <p:nvPicPr>
          <p:cNvPr id="8" name="Picture 7" descr="9e65d000e4f584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85" y="2924239"/>
            <a:ext cx="4652764" cy="351152"/>
          </a:xfrm>
          <a:prstGeom prst="rect">
            <a:avLst/>
          </a:prstGeom>
        </p:spPr>
      </p:pic>
      <p:pic>
        <p:nvPicPr>
          <p:cNvPr id="9" name="Picture 8" descr="240aba314bc462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11097"/>
            <a:ext cx="4800600" cy="3478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0488" y="2240280"/>
            <a:ext cx="5440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4231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PROBABILITY CONSERVATION</a:t>
            </a:r>
          </a:p>
        </p:txBody>
      </p:sp>
      <p:pic>
        <p:nvPicPr>
          <p:cNvPr id="12" name="Picture 11" descr="ffa4daad6966e9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7" y="2963774"/>
            <a:ext cx="4800600" cy="272083"/>
          </a:xfrm>
          <a:prstGeom prst="rect">
            <a:avLst/>
          </a:prstGeom>
        </p:spPr>
      </p:pic>
      <p:pic>
        <p:nvPicPr>
          <p:cNvPr id="13" name="Picture 12" descr="03b436a4dbf7e7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7" y="3539067"/>
            <a:ext cx="4800600" cy="2919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343400"/>
            <a:ext cx="11064240" cy="86868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4398264"/>
            <a:ext cx="91440" cy="75895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343400"/>
            <a:ext cx="104973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Key idea: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probability of a region is identical whether measured in z-space or x-space — the starting point for the derivation.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3492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A909C"/>
                </a:solidFill>
                <a:latin typeface="Arial"/>
              </a:rPr>
              <a:t>Next: rewrite these equalities as integrals and apply the multivariate substitution rule to get the explicit formula.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Change of Variables (Part 2 — Derivation)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0876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55063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47C2"/>
                </a:solidFill>
                <a:latin typeface="Arial"/>
              </a:rPr>
              <a:t>Step 1 — Express as Integrals</a:t>
            </a:r>
          </a:p>
        </p:txBody>
      </p:sp>
      <p:pic>
        <p:nvPicPr>
          <p:cNvPr id="8" name="Picture 7" descr="09fc086f5e25af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76" y="2007107"/>
            <a:ext cx="2787982" cy="5029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7" y="2404872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909C"/>
                </a:solidFill>
                <a:latin typeface="Arial"/>
              </a:rPr>
              <a:t>Rewrite conservation using integrals over both domains.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5087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0488" y="150876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55063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47C2"/>
                </a:solidFill>
                <a:latin typeface="Arial"/>
              </a:rPr>
              <a:t>Step 2 — Multivariate Substitution</a:t>
            </a:r>
          </a:p>
        </p:txBody>
      </p:sp>
      <p:pic>
        <p:nvPicPr>
          <p:cNvPr id="13" name="Picture 12" descr="8a2a84a7d43868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841" y="2007107"/>
            <a:ext cx="4617972" cy="5029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4807" y="2404872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909C"/>
                </a:solidFill>
                <a:latin typeface="Arial"/>
              </a:rPr>
              <a:t>Volume elements transform by the Jacobian determinant.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26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292608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07238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47C2"/>
                </a:solidFill>
                <a:latin typeface="Arial"/>
              </a:rPr>
              <a:t>Step 3 — Match Integrands</a:t>
            </a:r>
          </a:p>
        </p:txBody>
      </p:sp>
      <p:pic>
        <p:nvPicPr>
          <p:cNvPr id="18" name="Picture 17" descr="1dcd9534ce80f2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484017"/>
            <a:ext cx="4800600" cy="3837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7" y="3822191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909C"/>
                </a:solidFill>
                <a:latin typeface="Arial"/>
              </a:rPr>
              <a:t>Holds for all A, so integrands are equal a.e.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2926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0488" y="292608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07238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47C2"/>
                </a:solidFill>
                <a:latin typeface="Arial"/>
              </a:rPr>
              <a:t>Step 4 — Take Logarithms</a:t>
            </a:r>
          </a:p>
        </p:txBody>
      </p:sp>
      <p:pic>
        <p:nvPicPr>
          <p:cNvPr id="23" name="Picture 22" descr="7a9f0ac2328299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7" y="3533097"/>
            <a:ext cx="4800600" cy="2855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64807" y="3822191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909C"/>
                </a:solidFill>
                <a:latin typeface="Arial"/>
              </a:rPr>
              <a:t>The change-of-variables formula for exact log-likelihoods.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89120"/>
            <a:ext cx="11064240" cy="82296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443983"/>
            <a:ext cx="91440" cy="71323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389120"/>
            <a:ext cx="104973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Result: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this is the exact log-likelihood used to train normalizing flows.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Change of Variables (Part 3 — Intuition)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5B5BD6"/>
                </a:solidFill>
                <a:latin typeface="Arial"/>
              </a:rPr>
              <a:t>1D INTUITION — STRETCHING &amp; COMPRESSING INTERVALS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Take  x = 2z  (stretch by 2). If  z ∈ [0,1],  then  x ∈ [0,2]: the interval doubles, so to preserve probability the density must halve:</a:t>
            </a:r>
          </a:p>
        </p:txBody>
      </p:sp>
      <p:pic>
        <p:nvPicPr>
          <p:cNvPr id="8" name="Picture 7" descr="48bbf1f2d95f3c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088" y="2694906"/>
            <a:ext cx="6825518" cy="4257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383280"/>
            <a:ext cx="6766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62102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HIGHER DIMENSIONS: THE JACOBIAN DETERMINANT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86784"/>
            <a:ext cx="618134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In  d  dimensions, a linear map  x = Az  stretches or compresses volumes by  |det A|.</a:t>
            </a:r>
          </a:p>
        </p:txBody>
      </p:sp>
      <p:pic>
        <p:nvPicPr>
          <p:cNvPr id="12" name="Picture 11" descr="06a5225a293486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70" y="4855449"/>
            <a:ext cx="5684274" cy="4389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07808" y="3383280"/>
            <a:ext cx="4023360" cy="2331720"/>
          </a:xfrm>
          <a:prstGeom prst="roundRect">
            <a:avLst>
              <a:gd name="adj" fmla="val 5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3611880"/>
            <a:ext cx="3474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A47C2"/>
                </a:solidFill>
                <a:latin typeface="Arial"/>
              </a:rPr>
              <a:t>Key Insight</a:t>
            </a:r>
          </a:p>
          <a:p>
            <a:pPr algn="l">
              <a:spcBef>
                <a:spcPts val="6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Jacobian determinant accounts for how the transformation changes volume. Without it, probability would not be conserved under the change of variables.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18872" cy="84124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74320"/>
            <a:ext cx="10881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4A47C2"/>
                </a:solidFill>
                <a:latin typeface="Georgia"/>
              </a:rPr>
              <a:t>Appendix: The Hutchinson Identity (Proof)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PROOF STEPS</a:t>
            </a:r>
          </a:p>
        </p:txBody>
      </p:sp>
      <p:pic>
        <p:nvPicPr>
          <p:cNvPr id="7" name="Picture 6" descr="fb2654d6b012d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28" y="2114444"/>
            <a:ext cx="3717822" cy="434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2130551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909C"/>
                </a:solidFill>
                <a:latin typeface="Arial"/>
              </a:rPr>
              <a:t>( v⊤A v is a scalar )</a:t>
            </a:r>
          </a:p>
        </p:txBody>
      </p:sp>
      <p:pic>
        <p:nvPicPr>
          <p:cNvPr id="9" name="Picture 8" descr="5141c05b76c413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06" y="2791100"/>
            <a:ext cx="2291267" cy="434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0" y="280720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909C"/>
                </a:solidFill>
                <a:latin typeface="Arial"/>
              </a:rPr>
              <a:t>( cyclic property of trace )</a:t>
            </a:r>
          </a:p>
        </p:txBody>
      </p:sp>
      <p:pic>
        <p:nvPicPr>
          <p:cNvPr id="11" name="Picture 10" descr="872814a4d73fae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563" y="3467756"/>
            <a:ext cx="2256152" cy="434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0" y="3483864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909C"/>
                </a:solidFill>
                <a:latin typeface="Arial"/>
              </a:rPr>
              <a:t>( linearity of expectation )</a:t>
            </a:r>
          </a:p>
        </p:txBody>
      </p:sp>
      <p:pic>
        <p:nvPicPr>
          <p:cNvPr id="13" name="Picture 12" descr="3010a203b30fea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846" y="4186111"/>
            <a:ext cx="2655587" cy="3511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5360" y="41605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909C"/>
                </a:solidFill>
                <a:latin typeface="Arial"/>
              </a:rPr>
              <a:t>( since E[vv⊤] = I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12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By taking an expectation over random directions v, we recover the full trace of any matrix A.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566928" y="58064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6" action="ppaction://hlinksldjump"/>
              </a:rPr>
              <a:t>← Back to Estimator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1F2A"/>
                </a:solidFill>
                <a:latin typeface="Georgi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54406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[1]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Kingma &amp; Welling (2014).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Auto-Encoding Variational Bayes.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ICLR.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[2]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Goodfellow et al. (2014).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Generative Adversarial Nets.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NeurIPS.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[3]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Rezende &amp; Mohamed (2015).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Variational Inference with Normalizing Flows.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ICML.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[4]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Hyvärinen (2005).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Estimation of Non-Normalized Statistical Models by Score Matching.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JMLR.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[5]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Hutchinson (1990).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A Stochastic Estimator of the Trace of the Influence Matrix for Laplacian Smoothing Splines.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Commun. Stat. – Simul. Comput..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[6]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Song, Garg, Shi &amp; Ermon (2019).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Sliced Score Matching: A Scalable Approach to Density and Score Estimation.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UAI.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[7]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Vincent, Larochelle, Bengio &amp; Manzagol (2008).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Extracting and Composing Robust Features with Denoising Autoencoders.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17904"/>
            <a:ext cx="54406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[8]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Vincent (2011).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A Connection Between Score Matching and Denoising Autoencoders.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Neural Computation.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[9]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Sohl-Dickstein, Weiss, Maheswaranathan &amp; Ganguli (2015).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Deep Unsupervised Learning using Nonequilibrium Thermodynamics.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ICML.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[10]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Welling &amp; Teh (2011).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Bayesian Learning via Stochastic Gradient Langevin Dynamics.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ICML.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[11]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Song &amp; Ermon (2019).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Generative Modeling by Estimating Gradients of the Data Distribution.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NeurIPS.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[12]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Ho, Jain &amp; Abbeel (2020).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Denoising Diffusion Probabilistic Models.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NeurIPS.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00" b="1" i="0">
                <a:solidFill>
                  <a:srgbClr val="5B5BD6"/>
                </a:solidFill>
                <a:latin typeface="Arial"/>
              </a:rPr>
              <a:t>[13]  </a:t>
            </a:r>
            <a:r>
              <a:rPr sz="1100" b="1" i="0">
                <a:solidFill>
                  <a:srgbClr val="1B1F2A"/>
                </a:solidFill>
                <a:latin typeface="Arial"/>
              </a:rPr>
              <a:t>Song, Sohl-Dickstein, Kingma, Kumar, Ermon &amp; Poole (2021). </a:t>
            </a:r>
            <a:r>
              <a:rPr sz="1100" b="0" i="1">
                <a:solidFill>
                  <a:srgbClr val="3C4351"/>
                </a:solidFill>
                <a:latin typeface="Arial"/>
              </a:rPr>
              <a:t>Score-Based Generative Modeling through Stochastic Differential Equations.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ICLR.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