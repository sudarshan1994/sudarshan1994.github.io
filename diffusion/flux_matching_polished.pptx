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slide" Target="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slide" Target="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81328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spc="400">
                <a:solidFill>
                  <a:srgbClr val="5B5BD6"/>
                </a:solidFill>
                <a:latin typeface="Arial"/>
              </a:rPr>
              <a:t>GENERATIVE MODELING    ·    FLUX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38528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1B1F2A"/>
                </a:solidFill>
                <a:latin typeface="Georgia"/>
              </a:rPr>
              <a:t>Flux Matching: Learning Beyond the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0" i="1">
                <a:solidFill>
                  <a:srgbClr val="4A47C2"/>
                </a:solidFill>
                <a:latin typeface="Arial"/>
              </a:rPr>
              <a:t>Same stationary distribution, many possible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5876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09C"/>
                </a:solidFill>
                <a:latin typeface="Arial"/>
              </a:rPr>
              <a:t>Based on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Pao-Huang, Qiu &amp; Ermon,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“Generative Modeling with Flux Matching,”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arXiv:2605.07319 (2026)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8367" y="4279392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c10c4e62092b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01" y="4663060"/>
            <a:ext cx="3937292" cy="4213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5687568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B1F2A"/>
                </a:solidFill>
                <a:latin typeface="Arial"/>
              </a:rPr>
              <a:t>Sudarshan Babu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199632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909C"/>
                </a:solidFill>
                <a:latin typeface="Arial"/>
              </a:rPr>
              <a:t>Slides created using Claude and Manus AI — each slide was prompted by the author.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Motivation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Score matching forces one gradient field; the Fokker–Planck view shows why that is restrictive.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848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848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29968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The Loosening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Stationarity requires only the probability-flux divergence to match — not the field itself.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17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65176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96896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The Extra Field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uθ beyond the score, and the flux residual rθ that measures any stationarity violation.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1868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186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63824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The Objective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Projected Fisher divergence, made tractable as the Flux Matching loss.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85615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7856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3075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Implementation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One training iteration: KDE score, a short Langevin probe, Algorithm 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525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525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97680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Applications &amp; Results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Controllability, RNA velocity, image generation, faster sampling, directed structure.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20640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EDEDFB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12064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5BD6"/>
                </a:solidFill>
                <a:latin typeface="Arial"/>
              </a:rPr>
              <a:t>Appendix</a:t>
            </a:r>
            <a:r>
              <a:rPr sz="1300" b="0" i="0">
                <a:solidFill>
                  <a:srgbClr val="3C4351"/>
                </a:solidFill>
                <a:latin typeface="Arial"/>
              </a:rPr>
              <a:t>  — full derivation: the Fokker–Planck equation built up from the heat equation.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The space of vector fields   ·   Why score matching is restrictive   ·   The Fokker–Planck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THE BIG PICTURE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Space of Generative Vector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39903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C4351"/>
                </a:solidFill>
                <a:latin typeface="Arial"/>
              </a:rPr>
              <a:t>Ω is the space of vector fields in L²(p_data). Score matching commits to a single point; Flux Matching opens up the whole interior.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57400"/>
            <a:ext cx="1106424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2768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FIGURE 1 — ONE DISTRIBUTION, MANY VALID FIELDS</a:t>
            </a:r>
          </a:p>
        </p:txBody>
      </p:sp>
      <p:pic>
        <p:nvPicPr>
          <p:cNvPr id="9" name="Picture 8" descr="flux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001" y="2560320"/>
            <a:ext cx="5361691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[Figure 1]  Pao-Huang, Qiu, Ermon, 2026 — arXiv:2605.07319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Score Matching Is Restrictive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6424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00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SCORE MATCHING LEARNS ONE SPECIFIC FIELD</a:t>
            </a:r>
          </a:p>
        </p:txBody>
      </p:sp>
      <p:pic>
        <p:nvPicPr>
          <p:cNvPr id="8" name="Picture 7" descr="af41fd46c231cc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745" y="2080260"/>
            <a:ext cx="2092604" cy="21031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2761488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9809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SUFFICIENT FOR SAMPLING</a:t>
            </a:r>
          </a:p>
        </p:txBody>
      </p:sp>
      <p:pic>
        <p:nvPicPr>
          <p:cNvPr id="11" name="Picture 10" descr="32cb4a1a767fb0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823" y="3407772"/>
            <a:ext cx="3823168" cy="408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4069080"/>
            <a:ext cx="48097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Langevin dynamics with this drift converge to p</a:t>
            </a:r>
            <a:r>
              <a:rPr sz="900" b="0" i="0">
                <a:solidFill>
                  <a:srgbClr val="3C4351"/>
                </a:solidFill>
                <a:latin typeface="Arial"/>
              </a:rPr>
              <a:t>data</a:t>
            </a:r>
            <a:r>
              <a:rPr sz="1300" b="0" i="0">
                <a:solidFill>
                  <a:srgbClr val="3C4351"/>
                </a:solidFill>
                <a:latin typeface="Arial"/>
              </a:rPr>
              <a:t> as their stationary distribution.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761488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9809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PARTICLES FOLLOW THE SCORE</a:t>
            </a:r>
          </a:p>
        </p:txBody>
      </p:sp>
      <p:pic>
        <p:nvPicPr>
          <p:cNvPr id="15" name="Picture 14" descr="score_arr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461" y="3108960"/>
            <a:ext cx="2564452" cy="15544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66928" y="5138928"/>
            <a:ext cx="11064240" cy="749808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5193792"/>
            <a:ext cx="91440" cy="64008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138928"/>
            <a:ext cx="1049731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The catch —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this forces the learned field to be a gradient (conservative) field — one rigid choice.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HOW DENSITY EVOLVES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Fokker–Planck View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464040" y="54864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3" action="ppaction://hlinksldjump"/>
              </a:rPr>
              <a:t>Full derivation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134416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C4351"/>
                </a:solidFill>
                <a:latin typeface="Arial"/>
              </a:rPr>
              <a:t>The density evolves by the divergence of two competing probability fluxes.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0a44aa7e7c0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060" y="2216665"/>
            <a:ext cx="5973974" cy="73302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3493008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7307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DRIFT FLUX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096511"/>
            <a:ext cx="29352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p</a:t>
            </a:r>
            <a:r>
              <a:rPr sz="900" b="0" i="0">
                <a:solidFill>
                  <a:srgbClr val="3C4351"/>
                </a:solidFill>
                <a:latin typeface="Arial"/>
              </a:rPr>
              <a:t>t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f</a:t>
            </a:r>
            <a:r>
              <a:rPr sz="1000" b="0" i="0">
                <a:solidFill>
                  <a:srgbClr val="3C4351"/>
                </a:solidFill>
                <a:latin typeface="Arial"/>
              </a:rPr>
              <a:t>θ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carries mass along the vector field.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3493008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37307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2D7FF9"/>
                </a:solidFill>
                <a:latin typeface="Arial"/>
              </a:rPr>
              <a:t>DIFFUSION / SCORE FLUX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4096511"/>
            <a:ext cx="29352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p</a:t>
            </a:r>
            <a:r>
              <a:rPr sz="900" b="0" i="0">
                <a:solidFill>
                  <a:srgbClr val="3C4351"/>
                </a:solidFill>
                <a:latin typeface="Arial"/>
              </a:rPr>
              <a:t>t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∇log p</a:t>
            </a:r>
            <a:r>
              <a:rPr sz="900" b="0" i="0">
                <a:solidFill>
                  <a:srgbClr val="3C4351"/>
                </a:solidFill>
                <a:latin typeface="Arial"/>
              </a:rPr>
              <a:t>t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is the smoothing effect of Brownian motion.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3493008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37307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STATIONARITY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096511"/>
            <a:ext cx="29352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When the two fluxes balance, ∂p</a:t>
            </a:r>
            <a:r>
              <a:rPr sz="900" b="0" i="0">
                <a:solidFill>
                  <a:srgbClr val="3C4351"/>
                </a:solidFill>
                <a:latin typeface="Arial"/>
              </a:rPr>
              <a:t>t</a:t>
            </a:r>
            <a:r>
              <a:rPr sz="1400" b="0" i="0">
                <a:solidFill>
                  <a:srgbClr val="3C4351"/>
                </a:solidFill>
                <a:latin typeface="Arial"/>
              </a:rPr>
              <a:t>/∂t = 0 — no net density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[27]  Fokker–Planck equation;  Prop. 2.1 (paper)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The Loosening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Stationarity is weaker   ·   Many fields, one distribution   ·   Directed dynamics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THE KEY LOOSENING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Stationarity Is Weaker Than Score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362456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C4351"/>
                </a:solidFill>
                <a:latin typeface="Arial"/>
              </a:rPr>
              <a:t>At stationarity the divergences of the two fluxes balance: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c10c4e62092b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401" y="2349628"/>
            <a:ext cx="3937292" cy="4213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456432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67588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THIS DOES NOT REQUIRE</a:t>
            </a:r>
          </a:p>
        </p:txBody>
      </p:sp>
      <p:pic>
        <p:nvPicPr>
          <p:cNvPr id="11" name="Picture 10" descr="468bf95f9c916c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651" y="4137466"/>
            <a:ext cx="2023513" cy="3204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4736592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Equality of the fields is not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3456432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63931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913631"/>
            <a:ext cx="46634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Flux Matching matches the divergence of the probability flux — not the vector field itself.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A NULLSPACE OF VALID DRIFTS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Many Fields, Same 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ADD AN EXTRA FIELD</a:t>
            </a:r>
          </a:p>
        </p:txBody>
      </p:sp>
      <p:pic>
        <p:nvPicPr>
          <p:cNvPr id="8" name="Picture 7" descr="423dbb5f8925f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05" y="2130358"/>
            <a:ext cx="2813605" cy="3204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6208" y="146304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HARMLESS CONDITION</a:t>
            </a:r>
          </a:p>
        </p:txBody>
      </p:sp>
      <p:pic>
        <p:nvPicPr>
          <p:cNvPr id="11" name="Picture 10" descr="33fe1dda78ea7e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488" y="2079880"/>
            <a:ext cx="1988398" cy="4213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047" y="280720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Any v whose weighted divergence vanishes leaves p_data unchanged — v can add circulation, rotation, directed motion, or faster mixing.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46704"/>
            <a:ext cx="11064240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5661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FIGURE 2 — MANY VECTOR FIELDS, ONE STATIONARY DISTRIBUTION</a:t>
            </a:r>
          </a:p>
        </p:txBody>
      </p:sp>
      <p:pic>
        <p:nvPicPr>
          <p:cNvPr id="15" name="Picture 14" descr="flux_fi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452" y="3726180"/>
            <a:ext cx="7748789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[Figure 2]  Score field (left) vs. alternative fields with useful properties (right)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A STRUCTURAL LIMIT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Score Fields Cannot Express Directed Dynamics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SCORE FIELDS ARE GRADIENTS</a:t>
            </a:r>
          </a:p>
        </p:txBody>
      </p:sp>
      <p:pic>
        <p:nvPicPr>
          <p:cNvPr id="8" name="Picture 7" descr="91545cdaf305b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02" y="2153218"/>
            <a:ext cx="1900610" cy="3204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6208" y="14630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THEIR JACOBIAN IS A HESSIAN</a:t>
            </a:r>
          </a:p>
        </p:txBody>
      </p:sp>
      <p:pic>
        <p:nvPicPr>
          <p:cNvPr id="11" name="Picture 10" descr="67f6266ad5a221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974" y="2109324"/>
            <a:ext cx="2225426" cy="4082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3035808"/>
            <a:ext cx="11064240" cy="786384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91440" cy="676656"/>
          </a:xfrm>
          <a:prstGeom prst="roundRect">
            <a:avLst>
              <a:gd name="adj" fmla="val 50000"/>
            </a:avLst>
          </a:prstGeom>
          <a:solidFill>
            <a:srgbClr val="D9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035808"/>
            <a:ext cx="1049731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890B"/>
                </a:solidFill>
                <a:latin typeface="Arial"/>
              </a:rPr>
              <a:t>Hessians are symmetric —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so score fields cannot encode asymmetric directed dependencies or rotational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41648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26110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EXAMPLE — A ROTATIONAL FIELD THAT IS NOT A GRADIENT</a:t>
            </a:r>
          </a:p>
        </p:txBody>
      </p:sp>
      <p:pic>
        <p:nvPicPr>
          <p:cNvPr id="17" name="Picture 16" descr="5e97f4ea1d61eb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027" y="4899343"/>
            <a:ext cx="2633640" cy="3511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8047" y="536752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3C4351"/>
                </a:solidFill>
                <a:latin typeface="Arial"/>
              </a:rPr>
              <a:t>Pure circulation: its Jacobian is antisymmetric, so no scalar potential exists.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The Extra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uθ beyond the score   ·   The flux residual rθ   ·   Why not minimize rθ²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THE EXTRA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What Flux Matching Wants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642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DEFINE THE FIELD BEYOND THE SCORE</a:t>
            </a:r>
          </a:p>
        </p:txBody>
      </p:sp>
      <p:pic>
        <p:nvPicPr>
          <p:cNvPr id="8" name="Picture 7" descr="89424516c5154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798" y="2043684"/>
            <a:ext cx="4000500" cy="320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2798064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0175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WHAT UΘ IS — 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9856"/>
            <a:ext cx="48646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What is left after subtracting the score ∇log p from the learned field fθ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The degrees of freedom that score matching throws away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The part of the dynamics you are free to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798064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0175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TWO REGIMES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419856"/>
            <a:ext cx="48646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uθ = 0  →  ordinary score-based Langevin dynamics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uθ ≠ 0  →  adds circulation, rotation, or directed flow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2A150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…all while leaving p_data unchanged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91456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01091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HARMLESS CONDITION</a:t>
            </a:r>
          </a:p>
        </p:txBody>
      </p:sp>
      <p:pic>
        <p:nvPicPr>
          <p:cNvPr id="17" name="Picture 16" descr="8f282f10ee62e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126" y="5229988"/>
            <a:ext cx="2914562" cy="42138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36208" y="4791456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791456"/>
            <a:ext cx="4663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Then fθ keeps the same stationary distribution as p_data.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MEASURING THE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Flux Residual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910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DEFINITION</a:t>
            </a:r>
          </a:p>
        </p:txBody>
      </p:sp>
      <p:pic>
        <p:nvPicPr>
          <p:cNvPr id="8" name="Picture 7" descr="c3cca6aff87718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676" y="1970532"/>
            <a:ext cx="2024742" cy="1828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2542032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761487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EXPAND WITH THE PRODUCT RULE</a:t>
            </a:r>
          </a:p>
        </p:txBody>
      </p:sp>
      <p:pic>
        <p:nvPicPr>
          <p:cNvPr id="11" name="Picture 10" descr="53466329b6b749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265" y="3140963"/>
            <a:ext cx="2683565" cy="1828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3730752"/>
            <a:ext cx="53949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02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READING THE TWO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352544"/>
            <a:ext cx="48646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rθ = divergence of the probability flux p·uθ — i.e. the local fractional rate of density change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∇·uθ — is the extra field spreading apart or compressing?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uθᵀ∇log p — does it carry mass up or down the density gradient?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730752"/>
            <a:ext cx="5394960" cy="960120"/>
          </a:xfrm>
          <a:prstGeom prst="roundRect">
            <a:avLst>
              <a:gd name="adj" fmla="val 7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8" y="3785615"/>
            <a:ext cx="91440" cy="850392"/>
          </a:xfrm>
          <a:prstGeom prst="roundRect">
            <a:avLst>
              <a:gd name="adj" fmla="val 50000"/>
            </a:avLst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730752"/>
            <a:ext cx="482803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150"/>
                </a:solidFill>
                <a:latin typeface="Arial"/>
              </a:rPr>
              <a:t>rθ = 0 —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mass only rearranged; density preserved.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828032"/>
            <a:ext cx="5394960" cy="96012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4882896"/>
            <a:ext cx="91440" cy="85039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4828032"/>
            <a:ext cx="482803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rθ ≠ 0 —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probability pile-ups (+) or holes (−).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A TEMPTING DEAD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Not Just Minimize  rθ²?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NAIVE LOSS</a:t>
            </a:r>
          </a:p>
        </p:txBody>
      </p:sp>
      <p:pic>
        <p:nvPicPr>
          <p:cNvPr id="8" name="Picture 7" descr="636a5e2d2bef3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032" y="2116639"/>
            <a:ext cx="1676751" cy="4301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6208" y="1481328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084831"/>
            <a:ext cx="48097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r</a:t>
            </a:r>
            <a:r>
              <a:rPr sz="950" b="0" i="0">
                <a:solidFill>
                  <a:srgbClr val="3C4351"/>
                </a:solidFill>
                <a:latin typeface="Arial"/>
              </a:rPr>
              <a:t>θ</a:t>
            </a:r>
            <a:r>
              <a:rPr sz="1350" b="0" i="0">
                <a:solidFill>
                  <a:srgbClr val="3C4351"/>
                </a:solidFill>
                <a:latin typeface="Arial"/>
              </a:rPr>
              <a:t> contains ∇·u</a:t>
            </a:r>
            <a:r>
              <a:rPr sz="950" b="0" i="0">
                <a:solidFill>
                  <a:srgbClr val="3C4351"/>
                </a:solidFill>
                <a:latin typeface="Arial"/>
              </a:rPr>
              <a:t>θ</a:t>
            </a:r>
            <a:r>
              <a:rPr sz="1350" b="0" i="0">
                <a:solidFill>
                  <a:srgbClr val="3C4351"/>
                </a:solidFill>
                <a:latin typeface="Arial"/>
              </a:rPr>
              <a:t>, so it penalizes derivatives of the network — unstable, derivative-level geometry.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54096"/>
            <a:ext cx="110642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27355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D9890B"/>
                </a:solidFill>
                <a:latin typeface="Arial"/>
              </a:rPr>
              <a:t>WHY DERIVATIVES ARE DANGEROUS</a:t>
            </a:r>
          </a:p>
        </p:txBody>
      </p:sp>
      <p:pic>
        <p:nvPicPr>
          <p:cNvPr id="14" name="Picture 13" descr="a5f95fd3905449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299" y="3939223"/>
            <a:ext cx="3687096" cy="3511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0" y="4846320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3C4351"/>
                </a:solidFill>
                <a:latin typeface="Arial"/>
              </a:rPr>
              <a:t>A tiny function with a huge derivative.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Penalizing ∇·uθ makes the loss react to features the data never sees.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[7]  derivative-level artifacts in divergence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The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Projected Fisher divergence   ·   Residual autocorrelation   ·   The Flux Matching loss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THE RIGHT GEOMETRY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Projected Fisher Divergence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34416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C4351"/>
                </a:solidFill>
                <a:latin typeface="Arial"/>
              </a:rPr>
              <a:t>Keep Fisher-style vector-field geometry, but ignore harmless circulation.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66d26da53195f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157" y="2330789"/>
            <a:ext cx="6219781" cy="5047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493008"/>
            <a:ext cx="110642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712463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WHAT THE PROJECTION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 i="0">
                <a:solidFill>
                  <a:srgbClr val="1B1F2A"/>
                </a:solidFill>
                <a:latin typeface="Arial"/>
              </a:rPr>
              <a:t>Π</a:t>
            </a:r>
            <a:r>
              <a:rPr sz="1000" b="1" i="0">
                <a:solidFill>
                  <a:srgbClr val="1B1F2A"/>
                </a:solidFill>
                <a:latin typeface="Arial"/>
              </a:rPr>
              <a:t>flux</a:t>
            </a:r>
            <a:r>
              <a:rPr sz="1500" b="1" i="0">
                <a:solidFill>
                  <a:srgbClr val="1B1F2A"/>
                </a:solidFill>
                <a:latin typeface="Arial"/>
              </a:rPr>
              <a:t> f</a:t>
            </a:r>
            <a:r>
              <a:rPr sz="1100" b="1" i="0">
                <a:solidFill>
                  <a:srgbClr val="1B1F2A"/>
                </a:solidFill>
                <a:latin typeface="Arial"/>
              </a:rPr>
              <a:t>θ</a:t>
            </a:r>
            <a:r>
              <a:rPr sz="1500" b="0" i="0">
                <a:solidFill>
                  <a:srgbClr val="3C4351"/>
                </a:solidFill>
                <a:latin typeface="Arial"/>
              </a:rPr>
              <a:t>  =  the unique gradient field with the same flux divergence as f</a:t>
            </a:r>
            <a:r>
              <a:rPr sz="1100" b="0" i="0">
                <a:solidFill>
                  <a:srgbClr val="3C4351"/>
                </a:solidFill>
                <a:latin typeface="Arial"/>
              </a:rPr>
              <a:t>θ</a:t>
            </a:r>
            <a:r>
              <a:rPr sz="1500" b="0" i="0">
                <a:solidFill>
                  <a:srgbClr val="3C4351"/>
                </a:solidFill>
                <a:latin typeface="Arial"/>
              </a:rPr>
              <a:t>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3C4351"/>
                </a:solidFill>
                <a:latin typeface="Arial"/>
              </a:rPr>
              <a:t>It removes circulation and keeps only the density-changing component — so the objective never penalizes harmless, structure-carrying 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[Eq. 4]  projected Fisher divergence — intractable directly in high 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MAKING IT TRACTABLE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Step 1 — Projection → Residual Autocorrelation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MAIN IDENTITY</a:t>
            </a:r>
          </a:p>
        </p:txBody>
      </p:sp>
      <p:pic>
        <p:nvPicPr>
          <p:cNvPr id="8" name="Picture 7" descr="3722528bd42080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416" y="2061972"/>
            <a:ext cx="3639263" cy="594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1089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32841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PROBE DIFFUSION</a:t>
            </a:r>
          </a:p>
        </p:txBody>
      </p:sp>
      <p:pic>
        <p:nvPicPr>
          <p:cNvPr id="11" name="Picture 10" descr="050c32d45f4f63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71" y="3773532"/>
            <a:ext cx="4525472" cy="4082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6208" y="3108960"/>
            <a:ext cx="5394960" cy="146304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3163824"/>
            <a:ext cx="91440" cy="1353312"/>
          </a:xfrm>
          <a:prstGeom prst="roundRect">
            <a:avLst>
              <a:gd name="adj" fmla="val 50000"/>
            </a:avLst>
          </a:prstGeom>
          <a:solidFill>
            <a:srgbClr val="D9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108960"/>
            <a:ext cx="482803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890B"/>
                </a:solidFill>
                <a:latin typeface="Arial"/>
              </a:rPr>
              <a:t>Important —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xt is NOT DDPM noising. It is a training-time probe of stationarity around p_data.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82803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828032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Diffusion accumulates the pointwise residual into Fisher-divergence geometry.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[Eq. 5, Step 1]  Lemma A.2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PERSISTENCE OF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Intuition for 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34416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C4351"/>
                </a:solidFill>
                <a:latin typeface="Arial"/>
              </a:rPr>
              <a:t>rθ(x₀) rθ(xₜ) measures how long a stationarity violation persists under diffusion.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037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PERSISTENT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69464"/>
            <a:ext cx="3072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If the violation survives diffusion, it is </a:t>
            </a:r>
            <a:r>
              <a:rPr sz="1400" b="1" i="0">
                <a:solidFill>
                  <a:srgbClr val="E5484D"/>
                </a:solidFill>
                <a:latin typeface="Arial"/>
              </a:rPr>
              <a:t>structurally important</a:t>
            </a:r>
            <a:r>
              <a:rPr sz="1400" b="0" i="0">
                <a:solidFill>
                  <a:srgbClr val="3C4351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965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2037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TRANSIENT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569464"/>
            <a:ext cx="3072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If it quickly disappears, it is </a:t>
            </a:r>
            <a:r>
              <a:rPr sz="1400" b="1" i="0">
                <a:solidFill>
                  <a:srgbClr val="12A150"/>
                </a:solidFill>
                <a:latin typeface="Arial"/>
              </a:rPr>
              <a:t>local and harmless</a:t>
            </a:r>
            <a:r>
              <a:rPr sz="1400" b="0" i="0">
                <a:solidFill>
                  <a:srgbClr val="3C4351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965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20370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NET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569464"/>
            <a:ext cx="2935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Diffusion smooths the derivative-heavy residual into Fisher-like geometry.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1970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FIGURE 3 — GEOMETRIC INTERPRETATION</a:t>
            </a:r>
          </a:p>
        </p:txBody>
      </p:sp>
      <p:pic>
        <p:nvPicPr>
          <p:cNvPr id="18" name="Picture 17" descr="flux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765" y="4229100"/>
            <a:ext cx="2790163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REMOVING THE DERIVATIVE ON UΘ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Step 2 — Integration by Parts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b50bf2323aac7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666" y="1816709"/>
            <a:ext cx="7966762" cy="6276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1638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163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∇rθ(xₜ)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direction of future flux violation.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840479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84047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85615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∂xₜ/∂x₀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how a perturbation at x₀ propagates to xₜ.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171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51713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62272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transpose Jacobian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pulls the future violation back to x₀.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9379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1937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38928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dot with uθ(x₀)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asks: does the extra field point toward causing 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THE TRAINING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Flux Matching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110642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642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L_FLUX(Θ)</a:t>
            </a:r>
          </a:p>
        </p:txBody>
      </p:sp>
      <p:pic>
        <p:nvPicPr>
          <p:cNvPr id="8" name="Picture 7" descr="0ccf2dd1373552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66" y="1976540"/>
            <a:ext cx="9955161" cy="8383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20040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381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WHAT IT TRAINS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803904"/>
            <a:ext cx="480974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u</a:t>
            </a:r>
            <a:r>
              <a:rPr sz="1000" b="0" i="0">
                <a:solidFill>
                  <a:srgbClr val="3C4351"/>
                </a:solidFill>
                <a:latin typeface="Arial"/>
              </a:rPr>
              <a:t>θ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learns an extra drift that does </a:t>
            </a:r>
            <a:r>
              <a:rPr sz="1400" b="0" i="1">
                <a:solidFill>
                  <a:srgbClr val="3C4351"/>
                </a:solidFill>
                <a:latin typeface="Arial"/>
              </a:rPr>
              <a:t>not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create probability accumulation or depletion.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20040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34381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ROLE OF THE STOP-GRADIENT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803904"/>
            <a:ext cx="480974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sg(·) freezes the pulled-back violation direction into a fixed regression target during backprop.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230368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230368"/>
            <a:ext cx="10332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Theorem 3.1:  ∇θ J̃(θ) = 2 ∇θ L_flux(θ)  — same gradients as the projected Fisher divergence.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READING THE 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Meaning of the Inner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PENALIZED QUANTITY</a:t>
            </a:r>
          </a:p>
        </p:txBody>
      </p:sp>
      <p:pic>
        <p:nvPicPr>
          <p:cNvPr id="8" name="Picture 7" descr="cc273e6fbe94f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676" y="2111519"/>
            <a:ext cx="2541463" cy="4038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6208" y="14630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PULLED-BACK DIRECTION</a:t>
            </a:r>
          </a:p>
        </p:txBody>
      </p:sp>
      <p:pic>
        <p:nvPicPr>
          <p:cNvPr id="11" name="Picture 10" descr="9ff73f040a98af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937" y="2061972"/>
            <a:ext cx="3753500" cy="502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31089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08960"/>
            <a:ext cx="103327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“Is my extra field at x₀ aligned with a direction that creates future flux violation?”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97680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4352544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297680"/>
            <a:ext cx="482803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Aligned →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penalize the field.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4297680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4352544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4297680"/>
            <a:ext cx="482803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150"/>
                </a:solidFill>
                <a:latin typeface="Arial"/>
              </a:rPr>
              <a:t>Orthogonal →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allow it — the flow is harmless.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Practical estimation   ·   Algorithm 1   ·   Honest limits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ALGORITHM 1, ONE ITERATION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Practical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28930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p_data and its score are unknown — approximate ∇log p with a minibatch KDE, then: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2095804" cy="658368"/>
          </a:xfrm>
          <a:prstGeom prst="roundRect">
            <a:avLst>
              <a:gd name="adj" fmla="val 12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19129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5BD6"/>
                </a:solidFill>
                <a:latin typeface="Arial"/>
              </a:rPr>
              <a:t>1.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Sample x₀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4444" y="1847088"/>
            <a:ext cx="182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A909C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9036" y="1847088"/>
            <a:ext cx="2095804" cy="658368"/>
          </a:xfrm>
          <a:prstGeom prst="roundRect">
            <a:avLst>
              <a:gd name="adj" fmla="val 12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0476" y="1847088"/>
            <a:ext cx="19129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5BD6"/>
                </a:solidFill>
                <a:latin typeface="Arial"/>
              </a:rPr>
              <a:t>2.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KDE score ∇log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6553" y="1847088"/>
            <a:ext cx="182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A909C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1145" y="1847088"/>
            <a:ext cx="2095804" cy="658368"/>
          </a:xfrm>
          <a:prstGeom prst="roundRect">
            <a:avLst>
              <a:gd name="adj" fmla="val 12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2585" y="1847088"/>
            <a:ext cx="19129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5BD6"/>
                </a:solidFill>
                <a:latin typeface="Arial"/>
              </a:rPr>
              <a:t>3.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Langevin  x₀→xₜ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8662" y="1847088"/>
            <a:ext cx="182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A909C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3254" y="1847088"/>
            <a:ext cx="2095804" cy="658368"/>
          </a:xfrm>
          <a:prstGeom prst="roundRect">
            <a:avLst>
              <a:gd name="adj" fmla="val 12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4694" y="1847088"/>
            <a:ext cx="19129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5BD6"/>
                </a:solidFill>
                <a:latin typeface="Arial"/>
              </a:rPr>
              <a:t>4.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Compute uθ, rθ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0771" y="1847088"/>
            <a:ext cx="182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A909C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5363" y="1847088"/>
            <a:ext cx="2095804" cy="658368"/>
          </a:xfrm>
          <a:prstGeom prst="roundRect">
            <a:avLst>
              <a:gd name="adj" fmla="val 12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6803" y="1847088"/>
            <a:ext cx="19129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5BD6"/>
                </a:solidFill>
                <a:latin typeface="Arial"/>
              </a:rPr>
              <a:t>5.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Apply L_flux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761488"/>
            <a:ext cx="1106424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298094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ALGORITHM 1 — ONE TRAINING ITERATION OF FLUX MATCHING</a:t>
            </a:r>
          </a:p>
        </p:txBody>
      </p:sp>
      <p:pic>
        <p:nvPicPr>
          <p:cNvPr id="23" name="Picture 22" descr="flux_al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77" y="3159252"/>
            <a:ext cx="8786340" cy="2423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HONEST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What Flux Matching Does Not Guarantee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81328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Bare Flux Matching enforces only one thing: the same stationary distribution.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78608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79806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NOT AUTOMATIC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004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Straight trajectories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Fast sampling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Good tail exploration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Non-score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578608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79806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D9890B"/>
                </a:solidFill>
                <a:latin typeface="Arial"/>
              </a:rPr>
              <a:t>STILL VALID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32004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D9890B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The score field itself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D9890B"/>
                </a:solidFill>
                <a:latin typeface="Arial"/>
              </a:rPr>
              <a:t>•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Ugly, curvy density-preserving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81728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4736592"/>
            <a:ext cx="91440" cy="804672"/>
          </a:xfrm>
          <a:prstGeom prst="roundRect">
            <a:avLst>
              <a:gd name="adj" fmla="val 50000"/>
            </a:avLst>
          </a:prstGeom>
          <a:solidFill>
            <a:srgbClr val="D9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681728"/>
            <a:ext cx="10497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890B"/>
                </a:solidFill>
                <a:latin typeface="Arial"/>
              </a:rPr>
              <a:t>Underdetermined —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correctness alone does not pick a useful field; the dynamics must be chosen.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Applications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Controllability   ·   RNA velocity   ·   Generation   ·   Faster sampling   ·   Directed structure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RESULT · SECTION 4.1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Controllable Generative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28930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C4351"/>
                </a:solidFill>
                <a:latin typeface="Arial"/>
              </a:rPr>
              <a:t>On a 2D three-component Gaussian mixture, three one-parameter families of distribution-preserving fields (mixing speed, triangle shape, Jacobian skewness) plus a distribution-violating family.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642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40863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FIGURE 4 — SCORE MATCHING VS. FLUX MATCHING LOSS</a:t>
            </a:r>
          </a:p>
        </p:txBody>
      </p:sp>
      <p:pic>
        <p:nvPicPr>
          <p:cNvPr id="9" name="Picture 8" descr="res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001" y="2697480"/>
            <a:ext cx="8947691" cy="1920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4983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1663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440680"/>
            <a:ext cx="1033271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Score matching’s loss rises with any perturbation; Flux Matching stays exactly zero across all distribution-preserving changes — and only rises under genuine distribution violation.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[Fig. 4 · §4.1]  Pao-Huang, Qiu &amp; Ermon,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RESULT · SECTION 4.2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Interpretable Fields: RNA Velocity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28930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C4351"/>
                </a:solidFill>
                <a:latin typeface="Arial"/>
              </a:rPr>
              <a:t>Keep the biophysical ODE unchanged; replace its bespoke EM fit with gradient descent on L_flux across G = 2000 genes — Flux Matching supplies the training objective.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429768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22576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FIGURE 5 — LEARNED VELOCITY</a:t>
            </a:r>
          </a:p>
        </p:txBody>
      </p:sp>
      <p:pic>
        <p:nvPicPr>
          <p:cNvPr id="9" name="Picture 8" descr="res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695" y="2560320"/>
            <a:ext cx="3296145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0" y="221284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CROSS-BOUNDARY CORRECTNESS / CONSISTENCY (↑)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542032"/>
            <a:ext cx="6510528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2574036"/>
            <a:ext cx="6510528" cy="420624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574036"/>
            <a:ext cx="17450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9476" y="2574036"/>
            <a:ext cx="191638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Flux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6762" y="2574036"/>
            <a:ext cx="191638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scVelo 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94660"/>
            <a:ext cx="17450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Pancreas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9476" y="2994660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0.202 / 0.972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6762" y="2994660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0.330 / 0.821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378708"/>
            <a:ext cx="6510528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378708"/>
            <a:ext cx="17450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Gastrulation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9476" y="3378708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0.611 / 0.991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6762" y="3378708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−0.639 / 0.877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762756"/>
            <a:ext cx="6510528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3762756"/>
            <a:ext cx="17450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Dentate Gyrus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9476" y="3762756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0.284 / 0.981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6762" y="3762756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−0.084 / 0.791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146804"/>
            <a:ext cx="6510528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4146804"/>
            <a:ext cx="17450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Bone Marrow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9476" y="4146804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0.177 / 0.939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6762" y="4146804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−0.789 / 0.857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4530852"/>
            <a:ext cx="6510528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4530852"/>
            <a:ext cx="17450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Hindbrain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9476" y="4530852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0.345 / 0.897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6762" y="4530852"/>
            <a:ext cx="1916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0.332 / 0.874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4914900"/>
            <a:ext cx="6510528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20640" y="4914900"/>
            <a:ext cx="6510528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50749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25780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532120"/>
            <a:ext cx="103327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Same model class: Flux Matching improves consistency on all five datasets and CBC on four of five vs. scVelo.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[Fig. 5 · §4.2]  RNA-velocity, 5 single-cell datasets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RESULT · SECTION 4.3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Standalone Image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28930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C4351"/>
                </a:solidFill>
                <a:latin typeface="Arial"/>
              </a:rPr>
              <a:t>Noise-annealed Flux Matching as a standalone objective on CIFAR-10 and CelebA 64×64, standard UNet; DSM baseline shares architecture and hyperparameters.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9339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GENERATION 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04288"/>
            <a:ext cx="594360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336292"/>
            <a:ext cx="5943600" cy="4572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36292"/>
            <a:ext cx="125911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9815" y="2336292"/>
            <a:ext cx="81053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249" y="2336292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FID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540" y="2336292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IS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9830" y="2336292"/>
            <a:ext cx="9226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NLL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793492"/>
            <a:ext cx="125911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CIFAR-10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9815" y="2793492"/>
            <a:ext cx="81053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DSM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1249" y="2793492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4.74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540" y="2793492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8.52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9830" y="2793492"/>
            <a:ext cx="9226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3.16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50692"/>
            <a:ext cx="594360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250692"/>
            <a:ext cx="125911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9815" y="3250692"/>
            <a:ext cx="81053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Flux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1249" y="3250692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540" y="3250692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8.54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9830" y="3250692"/>
            <a:ext cx="9226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3.26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07891"/>
            <a:ext cx="594360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07891"/>
            <a:ext cx="125911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CelebA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9815" y="3707891"/>
            <a:ext cx="81053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DSM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1249" y="3707891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2.41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0540" y="3707891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9830" y="3707891"/>
            <a:ext cx="9226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2.03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165091"/>
            <a:ext cx="594360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165091"/>
            <a:ext cx="125911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19815" y="4165091"/>
            <a:ext cx="81053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Flux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1249" y="4165091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7.07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0540" y="4165091"/>
            <a:ext cx="6983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9830" y="4165091"/>
            <a:ext cx="9226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2.17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622292"/>
            <a:ext cx="594360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622292"/>
            <a:ext cx="594360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199339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TRAINING EFFICIENCY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93408" y="2304288"/>
            <a:ext cx="4937760" cy="3200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93408" y="2336292"/>
            <a:ext cx="4937760" cy="4572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2336292"/>
            <a:ext cx="10264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Dataset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3598" y="2336292"/>
            <a:ext cx="7178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2298" y="2336292"/>
            <a:ext cx="11292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Speed it/s 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82478" y="2336292"/>
            <a:ext cx="82067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Mem G 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2793492"/>
            <a:ext cx="10264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CIFAR-10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3598" y="2793492"/>
            <a:ext cx="7178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DSM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2298" y="2793492"/>
            <a:ext cx="11292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11.63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82478" y="2793492"/>
            <a:ext cx="82067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2.79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93408" y="3250692"/>
            <a:ext cx="493776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76288" y="3250692"/>
            <a:ext cx="10264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3598" y="3250692"/>
            <a:ext cx="7178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Flux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42298" y="3250692"/>
            <a:ext cx="11292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4.01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82478" y="3250692"/>
            <a:ext cx="82067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5.69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93408" y="3707891"/>
            <a:ext cx="493776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76288" y="3707891"/>
            <a:ext cx="10264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CelebA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3598" y="3707891"/>
            <a:ext cx="7178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DSM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2298" y="3707891"/>
            <a:ext cx="11292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7.20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82478" y="3707891"/>
            <a:ext cx="82067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7.79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93408" y="4165091"/>
            <a:ext cx="493776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76288" y="4165091"/>
            <a:ext cx="10264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13598" y="4165091"/>
            <a:ext cx="7178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Flux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42298" y="4165091"/>
            <a:ext cx="11292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1.77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82478" y="4165091"/>
            <a:ext cx="82067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22.67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93408" y="4622292"/>
            <a:ext cx="4937760" cy="12801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93408" y="4622292"/>
            <a:ext cx="4937760" cy="27432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66928" y="47548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49377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RESULT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" y="5212080"/>
            <a:ext cx="1033271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Flux Matching is competitive on IS and NLL; the FID gap reflects DSM’s heavy FID-specific engineering. As a first-pass new objective, it trains ~3–4× slower and uses more memory.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[Table 1 · §4.3]  unconditional generation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RESULT · SECTION 4.4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Faster Sampling via Fast-Mixing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28930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C4351"/>
                </a:solidFill>
                <a:latin typeface="Arial"/>
              </a:rPr>
              <a:t>Add a fast-mixing proxy loss (λ = 0.01):  L = L_flux-noise + λ L_mixing, same model as §4.3; evaluate FID on 1K samples vs. number of sampling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10642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2257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FIGURE 6 — FID VS. SAMPLING STEPS</a:t>
            </a:r>
          </a:p>
        </p:txBody>
      </p:sp>
      <p:pic>
        <p:nvPicPr>
          <p:cNvPr id="9" name="Picture 8" descr="res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578" y="2651760"/>
            <a:ext cx="7516538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5010912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193792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468112"/>
            <a:ext cx="10332719" cy="2743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Fast-mixing Flux reaches comparable FID with substantially fewer sampling steps on CIFAR-10 — and even vanilla Flux already mixes faster than DSM.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[Fig. 6 · §4.4]  accelerated sampling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RESULT · SECTION 4.5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Embedding Directed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28930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C4351"/>
                </a:solidFill>
                <a:latin typeface="Arial"/>
              </a:rPr>
              <a:t>Two masses coupled by nonlinear springs, sampled as discretized trajectories over N time steps. A causal attention mask makes fθ autoregressive; train DSM and Flux with/without it, score by Wasserstein W₂.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6424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40863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FIGURE 7 — CAUSAL MASK &amp; ΔW₂ (MASK RELATIVE TO NON-CAUSAL)</a:t>
            </a:r>
          </a:p>
        </p:txBody>
      </p:sp>
      <p:pic>
        <p:nvPicPr>
          <p:cNvPr id="9" name="Picture 8" descr="res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794" y="2642616"/>
            <a:ext cx="7042105" cy="2103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50749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25780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532120"/>
            <a:ext cx="103327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The causal mask helps Flux Matching (−29.4% W₂) but hurts DSM (+33.3%): score fields force a symmetric Jacobian that conflicts with directed temporal dependence.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[Fig. 7 · §4.5]  directed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THREE PARADIGMS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Conceptual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104241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Score Matching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“Match the score field.”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0428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042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49424"/>
            <a:ext cx="104241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Flow Matching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“Match a chosen transport path.”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9067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906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35808"/>
            <a:ext cx="104241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Flux Matching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“Match only the probability-flux divergence.”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77639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1970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CONDITION THAT DEFINES IT</a:t>
            </a:r>
          </a:p>
        </p:txBody>
      </p:sp>
      <p:pic>
        <p:nvPicPr>
          <p:cNvPr id="17" name="Picture 16" descr="c0fedcfbce7f57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01" y="4525900"/>
            <a:ext cx="3937292" cy="42138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66928" y="534924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49240"/>
            <a:ext cx="103327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Flux Matching turns the vector field itself into a design object.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86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5054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THIS TALK IS BASED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B1F2A"/>
                </a:solidFill>
                <a:latin typeface="Georgia"/>
              </a:rPr>
              <a:t>Generative Modeling with Flux Matching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C4351"/>
                </a:solidFill>
                <a:latin typeface="Arial"/>
              </a:rPr>
              <a:t>P. Pao-Huang, X. Qiu, S. Ermon</a:t>
            </a:r>
          </a:p>
          <a:p>
            <a:pPr algn="l"/>
            <a:r>
              <a:rPr sz="1400" b="0" i="0">
                <a:solidFill>
                  <a:srgbClr val="8A909C"/>
                </a:solidFill>
                <a:latin typeface="Arial"/>
              </a:rPr>
              <a:t>arXiv:2605.07319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APPENDIX · DERIVATION (1 /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4A47C2"/>
                </a:solidFill>
                <a:latin typeface="Georgia"/>
              </a:rPr>
              <a:t>Fokker–Planck from the Heat Equation</a:t>
            </a:r>
          </a:p>
        </p:txBody>
      </p:sp>
      <p:sp>
        <p:nvSpPr>
          <p:cNvPr id="6" name="Rounded Rectangle 5">
            <a:hlinkClick action="ppaction://hlinksldjump" r:id="rId6"/>
          </p:cNvPr>
          <p:cNvSpPr/>
          <p:nvPr/>
        </p:nvSpPr>
        <p:spPr>
          <a:xfrm>
            <a:off x="9464040" y="54864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6" action="ppaction://hlinksldjump"/>
              </a:rPr>
              <a:t>↑ Back to FP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110642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3677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1 — PURE DIFFUSION GIVES THE HEAT EQUATION</a:t>
            </a:r>
          </a:p>
        </p:txBody>
      </p:sp>
      <p:pic>
        <p:nvPicPr>
          <p:cNvPr id="9" name="Picture 8" descr="8b1c835ffb3873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64" y="2170407"/>
            <a:ext cx="2190311" cy="377488"/>
          </a:xfrm>
          <a:prstGeom prst="rect">
            <a:avLst/>
          </a:prstGeom>
        </p:spPr>
      </p:pic>
      <p:pic>
        <p:nvPicPr>
          <p:cNvPr id="10" name="Picture 9" descr="1a140561b64335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49" y="1972884"/>
            <a:ext cx="2774101" cy="7725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047" y="289864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3C4351"/>
                </a:solidFill>
                <a:latin typeface="Arial"/>
              </a:rPr>
              <a:t>Brownian motion alone spreads mass from dense regions into neighbouring sparse regions.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01568"/>
            <a:ext cx="1106424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6210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2 — REWRITE THE HEAT EQUATION AS PROBABILITY FLUX</a:t>
            </a:r>
          </a:p>
        </p:txBody>
      </p:sp>
      <p:pic>
        <p:nvPicPr>
          <p:cNvPr id="14" name="Picture 13" descr="f0889412daa1c9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432" y="3831335"/>
            <a:ext cx="5684830" cy="658368"/>
          </a:xfrm>
          <a:prstGeom prst="rect">
            <a:avLst/>
          </a:prstGeom>
        </p:spPr>
      </p:pic>
      <p:pic>
        <p:nvPicPr>
          <p:cNvPr id="15" name="Picture 14" descr="9257bd43f3e162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019" y="4743895"/>
            <a:ext cx="6105656" cy="35115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66928" y="544068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440680"/>
            <a:ext cx="10332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Diffusion moves probability down the density gradient — from dense to sparse.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APPENDIX · DERIVATION (2 /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4A47C2"/>
                </a:solidFill>
                <a:latin typeface="Georgia"/>
              </a:rPr>
              <a:t>Adding Drift, Then Combining</a:t>
            </a:r>
          </a:p>
        </p:txBody>
      </p:sp>
      <p:sp>
        <p:nvSpPr>
          <p:cNvPr id="6" name="Rounded Rectangle 5">
            <a:hlinkClick action="ppaction://hlinksldjump" r:id="rId6"/>
          </p:cNvPr>
          <p:cNvSpPr/>
          <p:nvPr/>
        </p:nvSpPr>
        <p:spPr>
          <a:xfrm>
            <a:off x="9464040" y="54864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6" action="ppaction://hlinksldjump"/>
              </a:rPr>
              <a:t>↑ Back to FP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3677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3 — DETERMINISTIC DRIFT ADDS A CURRENT</a:t>
            </a:r>
          </a:p>
        </p:txBody>
      </p:sp>
      <p:pic>
        <p:nvPicPr>
          <p:cNvPr id="9" name="Picture 8" descr="ce9b4408b9e5c8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64" y="2110423"/>
            <a:ext cx="3283271" cy="351152"/>
          </a:xfrm>
          <a:prstGeom prst="rect">
            <a:avLst/>
          </a:prstGeom>
        </p:spPr>
      </p:pic>
      <p:pic>
        <p:nvPicPr>
          <p:cNvPr id="10" name="Picture 9" descr="e2311a4fac9f5b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276" y="1929384"/>
            <a:ext cx="2592406" cy="7132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97180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1912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4 — TOTAL FLUX = DRIFT + DIFFUSION</a:t>
            </a:r>
          </a:p>
        </p:txBody>
      </p:sp>
      <p:pic>
        <p:nvPicPr>
          <p:cNvPr id="13" name="Picture 12" descr="648d5a211e174e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864" y="3543106"/>
            <a:ext cx="3989965" cy="32042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" y="4370832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553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THE FOKKER–PLANCK EQUATION (PAPER FORM)</a:t>
            </a:r>
          </a:p>
        </p:txBody>
      </p:sp>
      <p:pic>
        <p:nvPicPr>
          <p:cNvPr id="16" name="Picture 15" descr="90b4f3ae5b4ccc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904" y="4855464"/>
            <a:ext cx="6049885" cy="713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8047" y="582472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Matching the score field pointwise is unnecessary — matching the divergence of the two fluxes suffices. This is the foundation of Flux Matching.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