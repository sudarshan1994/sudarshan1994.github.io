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5.png"/><Relationship Id="rId5" Type="http://schemas.openxmlformats.org/officeDocument/2006/relationships/slide" Target="slide4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5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7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7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1153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1B1F2A"/>
                </a:solidFill>
                <a:latin typeface="Georgia"/>
              </a:rPr>
              <a:t>Score-Based Generative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4A47C2"/>
                </a:solidFill>
                <a:latin typeface="Georgia"/>
              </a:rPr>
              <a:t>SMLD and DDPM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8A909C"/>
                </a:solidFill>
                <a:latin typeface="Arial"/>
              </a:rPr>
              <a:t>Score matching with Langevin dynamics   →   denoising diffusion probabilistic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8407" y="4892040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58a21151c615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5153621"/>
            <a:ext cx="4114800" cy="3546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B1F2A"/>
                </a:solidFill>
                <a:latin typeface="Arial"/>
              </a:rPr>
              <a:t>Sudarshan Babu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Slides created using Claude and Manus AI — each slide was prompted by the author.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481328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Score Matching with Langevin Dynamics (SMLD)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Multi-scale scores, the noise-conditional score network, and annealed Langevin sampling.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042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49424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Why Noise Helps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manifold, scarcity, and mixing problems — and how perturbation fixes 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72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017520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The Limits of SMLD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Unstable training targets and slow, fragile MCMC sampling — the motivation for DDPM.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7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79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785615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Denoising Diffusion (DDPM)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An explicit forward Markov chain, ε-prediction, and a learned Gaussian reverse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08575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0857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553712"/>
            <a:ext cx="101498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The Variational Objective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The ELBO, its KL decomposition, and the tractable reverse posterior.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6752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367528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A47C2"/>
                </a:solidFill>
                <a:latin typeface="Arial"/>
              </a:rPr>
              <a:t>Appendix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— full reverse-process and ELBO derivations.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Score Matching with Langevin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Multi-scale scores   ·   NCSN training   ·   Annealed Langevin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Recap: What We Are Trying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CENTRAL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4809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Generate new samples by learning the gradient of the log data density (the </a:t>
            </a:r>
            <a:r>
              <a:rPr sz="1350" b="1" i="0">
                <a:solidFill>
                  <a:srgbClr val="5B5BD6"/>
                </a:solidFill>
                <a:latin typeface="Arial"/>
              </a:rPr>
              <a:t>score</a:t>
            </a:r>
            <a:r>
              <a:rPr sz="1350" b="0" i="0">
                <a:solidFill>
                  <a:srgbClr val="3C4351"/>
                </a:solidFill>
                <a:latin typeface="Arial"/>
              </a:rPr>
              <a:t>).</a:t>
            </a:r>
          </a:p>
        </p:txBody>
      </p:sp>
      <p:pic>
        <p:nvPicPr>
          <p:cNvPr id="8" name="Picture 7" descr="6081266b15a0e0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037" y="3024823"/>
            <a:ext cx="3502741" cy="351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6304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SAMPLING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874519"/>
            <a:ext cx="48097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Once learned, we generate samples via </a:t>
            </a:r>
            <a:r>
              <a:rPr sz="1350" b="1" i="0">
                <a:solidFill>
                  <a:srgbClr val="5B5BD6"/>
                </a:solidFill>
                <a:latin typeface="Arial"/>
              </a:rPr>
              <a:t>Langevin dynamics:</a:t>
            </a:r>
          </a:p>
        </p:txBody>
      </p:sp>
      <p:pic>
        <p:nvPicPr>
          <p:cNvPr id="12" name="Picture 11" descr="7cdd23aa65e0a5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997762"/>
            <a:ext cx="4572000" cy="40527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160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34340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KEY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61772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Score-based modeling replaces intractable density estimation with tractable gradient-field estimation.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THE TROUBLE WITH NAIVE SCORE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Perturb the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Before adding any noise, plain score matching breaks in three ways: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9397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MANIFOLD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The score  ∇ log p  is undefined off the data manifold, so Langevin is ill-posed in the empty ambient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874519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09397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SCARCITY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37744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Low-density regions contain no samples, so the network never learns a valid score there.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74519"/>
            <a:ext cx="35204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09397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MIXING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77440"/>
            <a:ext cx="2971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Langevin gets trapped in a single mode and cannot move between well-separated modes.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805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80560"/>
            <a:ext cx="1033271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The fix: perturb the data with Gaussian noise — at multiple scales — so the score is defined everywhere and sampling can mix.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692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We return to each problem in depth in Motivations 1–3.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Noise Model: Perturbing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8521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3677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1. THE PERTURBATION KERNEL</a:t>
            </a:r>
          </a:p>
        </p:txBody>
      </p:sp>
      <p:pic>
        <p:nvPicPr>
          <p:cNvPr id="7" name="Picture 6" descr="1690b9018fe03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60" y="1951316"/>
            <a:ext cx="3853894" cy="3950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2514600"/>
            <a:ext cx="5266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Add isotropic Gaussian noise to clean data  x  to produce a noisy observation  x̃. The level  σ  controls the degree of corruption.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1968" y="1417320"/>
            <a:ext cx="50292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16367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FORWARD NOISING PROCESS</a:t>
            </a:r>
          </a:p>
        </p:txBody>
      </p:sp>
      <p:pic>
        <p:nvPicPr>
          <p:cNvPr id="11" name="Picture 10" descr="p2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881202"/>
            <a:ext cx="4663440" cy="992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Ho, Jain &amp; Abbeel,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9260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A909C"/>
                </a:solidFill>
                <a:latin typeface="Arial"/>
              </a:rPr>
              <a:t>Two images diffused to shared latents at t ∈ {250, 500, 750, 1000}.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4845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2. THE NOISE SEQUENCE</a:t>
            </a:r>
          </a:p>
        </p:txBody>
      </p:sp>
      <p:pic>
        <p:nvPicPr>
          <p:cNvPr id="16" name="Picture 15" descr="468f4b66ac0c9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017" y="4085531"/>
            <a:ext cx="2897004" cy="2414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4663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A geometric sequence of noise levels defines a family of perturbed distributions  {pσ}.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5486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Reading left-to-right is the forward process (increasing σ); right-to-left is the reverse (denoising). The score network must learn to navigate this entire spectrum.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VIEW 1 OF 2 — CONSTRUCTIVE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Constructing Noisy Samples: The Sampling Recipe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5899e201804a6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943" y="1831714"/>
            <a:ext cx="4551808" cy="3599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395728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Equivalently:</a:t>
            </a:r>
          </a:p>
        </p:txBody>
      </p:sp>
      <p:pic>
        <p:nvPicPr>
          <p:cNvPr id="9" name="Picture 8" descr="0e9905994f28fc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549" y="2591396"/>
            <a:ext cx="2734596" cy="3950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35204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7398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NETWORK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3192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x̃  is the noisy sample fed to the score network  sθ(x̃, σ).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5204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7398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SCORE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9319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The true score points back toward the clean data:</a:t>
            </a:r>
          </a:p>
        </p:txBody>
      </p:sp>
      <p:pic>
        <p:nvPicPr>
          <p:cNvPr id="16" name="Picture 15" descr="07a63491926eb4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4980093"/>
            <a:ext cx="3108960" cy="55541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01583" y="3520440"/>
            <a:ext cx="35204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7398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MULTIPLE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93192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We repeat this for each  σ  in the schedule  σ₁ &gt; ⋯ &gt; σ_L,  creating a family of perturbed datasets.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VIEW 2 OF 2 — DISTRIBUTIONAL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Noising as Convolution: Fluffing the Manifold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b9c295a95fa6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16" y="1851818"/>
            <a:ext cx="9002661" cy="7769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200400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419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PROBLEM WITHOUT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11880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Real data lies on a low-dimensional manifold  M ⊂ ℝᴰ.  The density is concentrated on M and zero elsewhere, so  ∇ log pdata  is </a:t>
            </a:r>
            <a:r>
              <a:rPr sz="1250" b="1" i="0">
                <a:solidFill>
                  <a:srgbClr val="E5484D"/>
                </a:solidFill>
                <a:latin typeface="Arial"/>
              </a:rPr>
              <a:t>undefined off the manifold</a:t>
            </a:r>
            <a:r>
              <a:rPr sz="1250" b="0" i="0">
                <a:solidFill>
                  <a:srgbClr val="3C4351"/>
                </a:solidFill>
                <a:latin typeface="Arial"/>
              </a:rPr>
              <a:t> — Langevin dynamics is ill-posed.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200400"/>
            <a:ext cx="539496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419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FLUFFING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3611880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Convolving with  N(0,σ²I)  fattens the manifold into a σ-thick tube. The perturbed density has </a:t>
            </a:r>
            <a:r>
              <a:rPr sz="1250" b="1" i="0">
                <a:solidFill>
                  <a:srgbClr val="12A150"/>
                </a:solidFill>
                <a:latin typeface="Arial"/>
              </a:rPr>
              <a:t>full support over ℝᴰ</a:t>
            </a:r>
            <a:r>
              <a:rPr sz="1250" b="0" i="0">
                <a:solidFill>
                  <a:srgbClr val="3C4351"/>
                </a:solidFill>
                <a:latin typeface="Arial"/>
              </a:rPr>
              <a:t>,  so the score is well-defined everywhere — a valid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4406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440680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B5BD6"/>
                </a:solidFill>
                <a:latin typeface="Arial"/>
              </a:rPr>
              <a:t>Larger σ → more fluffing, smoother density     •     Smaller σ → tighter tube, closer to the true manifold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SCORE MATCHING WITH LANGEVIN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SMLD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53949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1. TRAINING (NCSN)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74519"/>
            <a:ext cx="48097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Learn a </a:t>
            </a:r>
            <a:r>
              <a:rPr sz="1300" b="1" i="0">
                <a:solidFill>
                  <a:srgbClr val="1B1F2A"/>
                </a:solidFill>
                <a:latin typeface="Arial"/>
              </a:rPr>
              <a:t>Noise-Conditional Score Network</a:t>
            </a:r>
            <a:r>
              <a:rPr sz="1300" b="0" i="0">
                <a:solidFill>
                  <a:srgbClr val="3C4351"/>
                </a:solidFill>
                <a:latin typeface="Arial"/>
              </a:rPr>
              <a:t>  conditioned on the noise level  σ:</a:t>
            </a:r>
          </a:p>
        </p:txBody>
      </p:sp>
      <p:pic>
        <p:nvPicPr>
          <p:cNvPr id="9" name="Picture 8" descr="958e2fbefc1426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31" y="2796223"/>
            <a:ext cx="3498352" cy="3511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" y="3474720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For a geometric sequence of noise levels:</a:t>
            </a:r>
          </a:p>
        </p:txBody>
      </p:sp>
      <p:pic>
        <p:nvPicPr>
          <p:cNvPr id="11" name="Picture 10" descr="cb7dbbe89ee3db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905" y="4131251"/>
            <a:ext cx="2897004" cy="24141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6208" y="1463040"/>
            <a:ext cx="53949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2. SAMPLING (ANNEALED)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874519"/>
            <a:ext cx="480974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Run </a:t>
            </a:r>
            <a:r>
              <a:rPr sz="1300" b="1" i="0">
                <a:solidFill>
                  <a:srgbClr val="1B1F2A"/>
                </a:solidFill>
                <a:latin typeface="Arial"/>
              </a:rPr>
              <a:t>Annealed Langevin Dynamics</a:t>
            </a:r>
            <a:r>
              <a:rPr sz="1300" b="0" i="0">
                <a:solidFill>
                  <a:srgbClr val="3C4351"/>
                </a:solidFill>
                <a:latin typeface="Arial"/>
              </a:rPr>
              <a:t> sequentially.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00" b="0" i="0">
                <a:solidFill>
                  <a:srgbClr val="3C4351"/>
                </a:solidFill>
                <a:latin typeface="Arial"/>
              </a:rPr>
              <a:t>Start at  σ₁  (large noise) and anneal down to  σ_L  (small noise).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3C4351"/>
                </a:solidFill>
                <a:latin typeface="Arial"/>
              </a:rPr>
              <a:t>Each level initializes the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83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1663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WHY?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440680"/>
            <a:ext cx="103327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This multi-scale design solves two critical failures of naive score matching.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Unified Solution: Multi-Scale Scores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SINGLE SCALE (NAIVE)</a:t>
            </a:r>
          </a:p>
        </p:txBody>
      </p:sp>
      <p:pic>
        <p:nvPicPr>
          <p:cNvPr id="7" name="Picture 6" descr="f6a6bbc0e71ef2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27" y="2110423"/>
            <a:ext cx="1672361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2880360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5484D"/>
                </a:solidFill>
                <a:latin typeface="Arial"/>
              </a:rPr>
              <a:t>Fails: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undefined on the manifold, and poor mixing in low-density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6304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MULTI-SCALE (SMLD)</a:t>
            </a:r>
          </a:p>
        </p:txBody>
      </p:sp>
      <p:pic>
        <p:nvPicPr>
          <p:cNvPr id="11" name="Picture 10" descr="a6c8ea135a8c2e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466" y="2110423"/>
            <a:ext cx="3792442" cy="351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28816" y="2834640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A150"/>
                </a:solidFill>
                <a:latin typeface="Arial"/>
              </a:rPr>
              <a:t>Succeeds: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large σ fills space for mixing; small σ recovers data. Tractable conditional score:</a:t>
            </a:r>
          </a:p>
        </p:txBody>
      </p:sp>
      <p:pic>
        <p:nvPicPr>
          <p:cNvPr id="13" name="Picture 12" descr="d03b4b70d68e8b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754" y="3931920"/>
            <a:ext cx="889867" cy="5486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8463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846320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1F2A"/>
                </a:solidFill>
                <a:latin typeface="Arial"/>
              </a:rPr>
              <a:t>σ₁ &gt; σ₂ &gt; ⋯ &gt; σ_L</a:t>
            </a:r>
          </a:p>
          <a:p>
            <a:pPr algn="ctr">
              <a:spcBef>
                <a:spcPts val="400"/>
              </a:spcBef>
            </a:pPr>
            <a:r>
              <a:rPr sz="1300" b="1" i="0">
                <a:solidFill>
                  <a:srgbClr val="5B5BD6"/>
                </a:solidFill>
                <a:latin typeface="Arial"/>
              </a:rPr>
              <a:t>Global Exploration  →  Local Refinement     (Smooth → Sharp)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Motivation 1: The Manifold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Real-world data lies on a low-dimensional manifold embedded in high-dimensional space. The density drops to zero outside it, so  ∇ log p(x)  is undefined in the ambient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SMLD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874519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Perturb with noise: adding Gaussian noise “fluffs” the manifold. The perturbed  pσ(x)  has full support everywhere, so the score becomes well-defined.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40480"/>
            <a:ext cx="11064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0599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EMPIRICAL EVIDENCE</a:t>
            </a:r>
          </a:p>
        </p:txBody>
      </p:sp>
      <p:pic>
        <p:nvPicPr>
          <p:cNvPr id="13" name="Picture 12" descr="p7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163" y="4046220"/>
            <a:ext cx="4849368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Song &amp; Ermon,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89788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909C"/>
                </a:solidFill>
                <a:latin typeface="Arial"/>
              </a:rPr>
              <a:t>Fig 1: Without noise, training diverges (left); with noise, it stabilizes (right).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Motivation 2: The Scarcity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LOW-DENSITY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202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Score matching minimizes expected error over the data distribution. In regions where  pdata(x) ≈ 0  there are no samples, so the network </a:t>
            </a:r>
            <a:r>
              <a:rPr sz="1350" b="1" i="0">
                <a:solidFill>
                  <a:srgbClr val="E5484D"/>
                </a:solidFill>
                <a:latin typeface="Arial"/>
              </a:rPr>
              <a:t>never learns the score in these empty spaces.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52044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739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SMLD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77639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2A150"/>
                </a:solidFill>
                <a:latin typeface="Arial"/>
              </a:rPr>
              <a:t>Large noise levels (σ₁):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a large σ convolves the data distribution, spreading probability mass into low-density regions. This provides a valid training signal everywhere, guiding the sampler toward the manifold.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Motivation 3: The Mixing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532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ISOLATED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Multimodal data has modes separated by vast low-density regions, so standard Langevin gets </a:t>
            </a:r>
            <a:r>
              <a:rPr sz="1200" b="1" i="0">
                <a:solidFill>
                  <a:srgbClr val="E5484D"/>
                </a:solidFill>
                <a:latin typeface="Arial"/>
              </a:rPr>
              <a:t>trapped in a single mode</a:t>
            </a:r>
            <a:r>
              <a:rPr sz="1200" b="0" i="0">
                <a:solidFill>
                  <a:srgbClr val="3C4351"/>
                </a:solidFill>
                <a:latin typeface="Arial"/>
              </a:rPr>
              <a:t> and can’t mix between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17520"/>
            <a:ext cx="5532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23697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9890B"/>
                </a:solidFill>
                <a:latin typeface="Arial"/>
              </a:rPr>
              <a:t>WHY MIXING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C4351"/>
                </a:solidFill>
                <a:latin typeface="Arial"/>
              </a:rPr>
              <a:t>Without mixing, a run samples only one mode — so the modes appear in the </a:t>
            </a:r>
            <a:r>
              <a:rPr sz="1200" b="1" i="0">
                <a:solidFill>
                  <a:srgbClr val="D9890B"/>
                </a:solidFill>
                <a:latin typeface="Arial"/>
              </a:rPr>
              <a:t>wrong proportions</a:t>
            </a:r>
            <a:r>
              <a:rPr sz="1200" b="0" i="0">
                <a:solidFill>
                  <a:srgbClr val="3C4351"/>
                </a:solidFill>
                <a:latin typeface="Arial"/>
              </a:rPr>
              <a:t>, not the true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72000"/>
            <a:ext cx="55321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791456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SMLD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010912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A150"/>
                </a:solidFill>
                <a:latin typeface="Arial"/>
              </a:rPr>
              <a:t>Annealing (large → small σ):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large σ blurs the modes into one connected blob (easy to mix); anneal down to refine.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463040"/>
            <a:ext cx="530352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9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962" y="1531620"/>
            <a:ext cx="2722891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Song &amp; Ermon,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262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909C"/>
                </a:solidFill>
                <a:latin typeface="Arial"/>
              </a:rPr>
              <a:t>Fig 2: Estimated score field for a two-mode distribution.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983480"/>
            <a:ext cx="4709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A47C2"/>
                </a:solidFill>
                <a:latin typeface="Arial"/>
              </a:rPr>
              <a:t>Intuition: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scores are accurate inside each mode but ≈ 0 in the gap — so Langevin can’t cross between modes.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Training the Multi-Scale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67665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SINGLE NOISE LEVEL — DENOISING SCORE MATCHING</a:t>
            </a:r>
          </a:p>
        </p:txBody>
      </p:sp>
      <p:pic>
        <p:nvPicPr>
          <p:cNvPr id="7" name="Picture 6" descr="8f9c0a363e37c6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00" y="2292197"/>
            <a:ext cx="6039815" cy="6276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16368" y="146304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3611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Tractable: no adversarial training or sampling loop.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Scalable: one U-Net learns all noise levels.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Optimal: minimizer satisfies  sθ* ≈ ∇ log pσ.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3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92277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UNIFIED OBJECTIVE</a:t>
            </a:r>
          </a:p>
        </p:txBody>
      </p:sp>
      <p:pic>
        <p:nvPicPr>
          <p:cNvPr id="12" name="Picture 11" descr="510b04b9df984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643" y="4229100"/>
            <a:ext cx="4060408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Sampling with Annealed Langevin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486400" cy="452628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493776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Input: {sigma_i}, eps, T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1. init  x ~ N(0, I)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2. for i = 1 to L do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a_i &lt;- eps * sigma_i^2 / sigma_L^2   # anneal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for t = 1 to T do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    z ~ N(0, I)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    x &lt;- x + (a_i/2) s_th(x, sigma_i)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             + sqrt(a_i) z       # Langevin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end for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3. end for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Return  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394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SAMPLES EVOLVING</a:t>
            </a:r>
          </a:p>
        </p:txBody>
      </p:sp>
      <p:pic>
        <p:nvPicPr>
          <p:cNvPr id="10" name="Picture 9" descr="p11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69" y="1828800"/>
            <a:ext cx="4794836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Song &amp; Ermon, 2019</a:t>
            </a:r>
          </a:p>
        </p:txBody>
      </p:sp>
      <p:pic>
        <p:nvPicPr>
          <p:cNvPr id="12" name="Picture 11" descr="p11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009" y="3840480"/>
            <a:ext cx="1685357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28816" y="5650992"/>
            <a:ext cx="4809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A909C"/>
                </a:solidFill>
                <a:latin typeface="Arial"/>
              </a:rPr>
              <a:t>Figs 4–5: noise → structure as σ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Implementation Detail 1: Loss Weighting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4809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Empirically, the score norm scales inversely with noise:</a:t>
            </a:r>
          </a:p>
        </p:txBody>
      </p:sp>
      <p:pic>
        <p:nvPicPr>
          <p:cNvPr id="8" name="Picture 7" descr="468a39bbb056f9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71" y="2521903"/>
            <a:ext cx="2537073" cy="351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" y="3063240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C4351"/>
                </a:solidFill>
                <a:latin typeface="Arial"/>
              </a:rPr>
              <a:t>Unweighted loss:</a:t>
            </a:r>
          </a:p>
        </p:txBody>
      </p:sp>
      <p:pic>
        <p:nvPicPr>
          <p:cNvPr id="10" name="Picture 9" descr="37f67c9c3d388d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757" y="3505796"/>
            <a:ext cx="2111301" cy="3950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4069080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5484D"/>
                </a:solidFill>
                <a:latin typeface="Arial"/>
              </a:rPr>
              <a:t>Small-σ terms explode; gradients are dominated by the finest scale and coarse scales are ignored.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63040"/>
            <a:ext cx="53949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874519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Choose a weighting function:</a:t>
            </a:r>
          </a:p>
        </p:txBody>
      </p:sp>
      <p:pic>
        <p:nvPicPr>
          <p:cNvPr id="15" name="Picture 14" descr="f5f10672cf341e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489" y="2408516"/>
            <a:ext cx="1492396" cy="3950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28816" y="3017520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C4351"/>
                </a:solidFill>
                <a:latin typeface="Arial"/>
              </a:rPr>
              <a:t>Weighted loss:</a:t>
            </a:r>
          </a:p>
        </p:txBody>
      </p:sp>
      <p:pic>
        <p:nvPicPr>
          <p:cNvPr id="17" name="Picture 16" descr="8ebf9d637f32a6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077" y="3488239"/>
            <a:ext cx="3801221" cy="4301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28816" y="4114800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2A150"/>
                </a:solidFill>
                <a:latin typeface="Arial"/>
              </a:rPr>
              <a:t>Balanced gradient contributions across all noise levels.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Implementation Detail 2: Step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3c8932438dec9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678" y="1668780"/>
            <a:ext cx="5652339" cy="777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834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0540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SIGNAL MAGNITUDE</a:t>
            </a:r>
          </a:p>
        </p:txBody>
      </p:sp>
      <p:pic>
        <p:nvPicPr>
          <p:cNvPr id="9" name="Picture 8" descr="d6c705a8a6086b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632673"/>
            <a:ext cx="3017520" cy="4156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34256" y="2834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30540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NOISE MAGNITUDE</a:t>
            </a:r>
          </a:p>
        </p:txBody>
      </p:sp>
      <p:pic>
        <p:nvPicPr>
          <p:cNvPr id="12" name="Picture 11" descr="4dd895a4a1ff35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430" y="3664903"/>
            <a:ext cx="1926947" cy="3511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01583" y="2834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0540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SIGNAL-TO-NOISE</a:t>
            </a:r>
          </a:p>
        </p:txBody>
      </p:sp>
      <p:pic>
        <p:nvPicPr>
          <p:cNvPr id="15" name="Picture 14" descr="956de840cee02f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515" y="3520440"/>
            <a:ext cx="1571432" cy="640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8920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B5BD6"/>
                </a:solidFill>
                <a:latin typeface="Arial"/>
              </a:rPr>
              <a:t>Setting  αᵢ ∝ σᵢ²  keeps the SNR constant — ensuring stable mixing dynamics across all noise levels.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Conceptual Flow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THE LOGIC OF SMLD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3794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3794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 Goal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00" b="0" i="0">
                <a:solidFill>
                  <a:srgbClr val="3C4351"/>
                </a:solidFill>
                <a:latin typeface="Arial"/>
              </a:rPr>
              <a:t>Generate samples via Langevin dynamics on learned scores.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7980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 Method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00" b="0" i="0">
                <a:solidFill>
                  <a:srgbClr val="3C4351"/>
                </a:solidFill>
                <a:latin typeface="Arial"/>
              </a:rPr>
              <a:t>Learn a family of scores (NCSN) and anneal noise levels.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5818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75818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 Motivation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00" b="0" i="0">
                <a:solidFill>
                  <a:srgbClr val="3C4351"/>
                </a:solidFill>
                <a:latin typeface="Arial"/>
              </a:rPr>
              <a:t>Solves the manifold problem and the mixing problem.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1830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7183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 Outcome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00" b="0" i="0">
                <a:solidFill>
                  <a:srgbClr val="3C4351"/>
                </a:solidFill>
                <a:latin typeface="Arial"/>
              </a:rPr>
              <a:t>High-fidelity samples competitive with GANs, no adversarial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41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2D7FF9"/>
                </a:solidFill>
                <a:latin typeface="Arial"/>
              </a:rPr>
              <a:t>CIFAR-10 UNCONDITIONAL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828800"/>
            <a:ext cx="5577840" cy="36576"/>
          </a:xfrm>
          <a:prstGeom prst="rect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385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F2A"/>
                </a:solidFill>
                <a:latin typeface="Arial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9385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B1F2A"/>
                </a:solidFill>
                <a:latin typeface="Arial"/>
              </a:rPr>
              <a:t>IS 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193852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B1F2A"/>
                </a:solidFill>
                <a:latin typeface="Arial"/>
              </a:rPr>
              <a:t>FID 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31720"/>
            <a:ext cx="55778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31720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Arial"/>
              </a:rPr>
              <a:t>PixelCNN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331720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4.60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233172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65.93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898648"/>
            <a:ext cx="55778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98648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Arial"/>
              </a:rPr>
              <a:t>WGAN-GP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898648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7.86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289864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36.4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465576"/>
            <a:ext cx="55778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65576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Arial"/>
              </a:rPr>
              <a:t>SNGAN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465576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8.22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346557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21.7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032504"/>
            <a:ext cx="55778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032504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Arial"/>
              </a:rPr>
              <a:t>ProgressiveGAN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032504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8.80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403250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1F2A"/>
                </a:solidFill>
                <a:latin typeface="Arial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599432"/>
            <a:ext cx="5577840" cy="566928"/>
          </a:xfrm>
          <a:prstGeom prst="roundRect">
            <a:avLst>
              <a:gd name="adj" fmla="val 5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599432"/>
            <a:ext cx="246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5BD6"/>
                </a:solidFill>
                <a:latin typeface="Arial"/>
              </a:rPr>
              <a:t>NCSN (Ours)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599432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8.87 ± 0.12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4599432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25.32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80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8A909C"/>
                </a:solidFill>
                <a:latin typeface="Arial"/>
              </a:rPr>
              <a:t>Table 1 — CIFAR-10 unconditional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Song &amp; Ermon, 2019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Why SMLD Falls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Training instabilities   ·   Fragile MCMC sampling   ·   Motivation for DDPM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SMLD: What We Are Doing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TRAINING OBJECTIVE</a:t>
            </a:r>
          </a:p>
        </p:txBody>
      </p:sp>
      <p:pic>
        <p:nvPicPr>
          <p:cNvPr id="7" name="Picture 6" descr="958e2fbefc1426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31" y="2110423"/>
            <a:ext cx="3498352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2880360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with corruption</a:t>
            </a:r>
          </a:p>
        </p:txBody>
      </p:sp>
      <p:pic>
        <p:nvPicPr>
          <p:cNvPr id="9" name="Picture 8" descr="614633a818487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828" y="3388757"/>
            <a:ext cx="1839158" cy="2633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36208" y="146304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ANNEALED LANGEVIN SAMPLING</a:t>
            </a:r>
          </a:p>
        </p:txBody>
      </p:sp>
      <p:pic>
        <p:nvPicPr>
          <p:cNvPr id="12" name="Picture 11" descr="22007949c69f6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749" y="2539092"/>
            <a:ext cx="4191877" cy="40821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663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B1F2A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6344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It works in principle. But there are practical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Training Dynamics Issue #1: Scale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In SMLD,  x = x₀ + σε.  As  σ  grows: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1064240" cy="457200"/>
          </a:xfrm>
          <a:prstGeom prst="roundRect">
            <a:avLst>
              <a:gd name="adj" fmla="val 4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8A909C"/>
                </a:solidFill>
                <a:latin typeface="Arial"/>
              </a:rPr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874519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8A909C"/>
                </a:solidFill>
                <a:latin typeface="Arial"/>
              </a:rPr>
              <a:t>SCALING WITH 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7" y="1874519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8A909C"/>
                </a:solidFill>
                <a:latin typeface="Arial"/>
              </a:rPr>
              <a:t>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31720"/>
            <a:ext cx="110642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Input Norm ‖x‖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331720"/>
            <a:ext cx="374903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2A150"/>
                </a:solidFill>
                <a:latin typeface="Arial"/>
              </a:rPr>
              <a:t>↑ Increases (≈ 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7" y="2331720"/>
            <a:ext cx="3657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Network sees huge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08376"/>
            <a:ext cx="110642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08376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Target Norm ‖∇ log p‖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008376"/>
            <a:ext cx="374903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↓ Decreases (≈ 1/σ)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3008376"/>
            <a:ext cx="3657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Target signal vanishes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85032"/>
            <a:ext cx="110642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85032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F2A"/>
                </a:solidFill>
                <a:latin typeface="Arial"/>
              </a:rPr>
              <a:t>Gradient Magnitude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685032"/>
            <a:ext cx="374903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↓ Decreases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3685032"/>
            <a:ext cx="3657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Loss dominated by small 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44568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7640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RESULT — POOR CONDITIONING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956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Optimization is unbalanced. We are forced to use the heuristic weighting  λ(σ) = σ²  just to make gradients comparable.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1F2A"/>
                </a:solidFill>
                <a:latin typeface="Georgia"/>
              </a:rPr>
              <a:t>Training Dynamics Issue #2: Activation Regime 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Input variance scales with  σ².  The network sees inputs ranging from “clean” all the way to “massive noise.”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INTERNAL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874519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Activations operate at drastically different magnitudes. LayerNorm and residual scaling behave inconsistently across noise levels.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77639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FBF3E3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1970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9890B"/>
                </a:solidFill>
                <a:latin typeface="Arial"/>
              </a:rPr>
              <a:t>THE 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526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We are effectively training “many differently-scaled networks” with shared parameters — which complicates tuning and slows convergence.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Sampling Issue #1: MCMC Dependence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486400" cy="329184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E4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459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INNER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for i = 1 to L: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for t = 1 to T:      # many steps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  z ~ N(0, I)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    x = x + a*s(x) + sqrt(2a)*z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    end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1F2A"/>
                </a:solidFill>
                <a:latin typeface="Consolas"/>
              </a:rP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6304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WHY IT’S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920240"/>
            <a:ext cx="480974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E548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Requires many Langevin steps per level.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E548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Step size requires careful tuning.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E548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Approximate score ⇒ biased drift.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 i="0">
                <a:solidFill>
                  <a:srgbClr val="E5484D"/>
                </a:solidFill>
                <a:latin typeface="Arial"/>
              </a:rPr>
              <a:t>•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Sampling is expensive and fragile.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377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B1F2A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93776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Hundreds or thousands of iterations are needed for convergence.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B1F2A"/>
                </a:solidFill>
                <a:latin typeface="Georgia"/>
              </a:rPr>
              <a:t>Sampling Issue #2: No Explicit Forward Markov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WHAT WE HAVE</a:t>
            </a:r>
          </a:p>
        </p:txBody>
      </p:sp>
      <p:pic>
        <p:nvPicPr>
          <p:cNvPr id="7" name="Picture 6" descr="570c103d0cab5d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72" y="2179916"/>
            <a:ext cx="3366670" cy="3950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2926080"/>
            <a:ext cx="48097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SMLD defines only a set of marginal distributions — blurred versions of the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630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WHAT IS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8097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No explicit joint  q(x₀:T).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300" b="0" i="0">
                <a:solidFill>
                  <a:srgbClr val="3C4351"/>
                </a:solidFill>
                <a:latin typeface="Arial"/>
              </a:rPr>
              <a:t>No closed-form reverse transition.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348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34840"/>
            <a:ext cx="1033271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Reverse dynamics rely purely on MCMC correction (Langevin) — we lack a principled ancestral reverse model like  p(xₜ₋₁ | xₜ).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Sampling Issue #3: Hyperparameter Sensitivity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The Noise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128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Geometric vs arithmetic schedule?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5448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Step Sizes 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22128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Per-level Langevin step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632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Langevin Steps /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216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How many T iterations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0632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33192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Loss Weights  λ(σ)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7216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Balancing across noise scales.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1772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80060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5484D"/>
                </a:solidFill>
                <a:latin typeface="Arial"/>
              </a:rPr>
              <a:t>Small changes can destabilize training or sampling.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Scaling to large, high-resolution models becomes extremely difficult.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Summary of SMLD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03120"/>
            <a:ext cx="480974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Input scale grows with  σ.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Target scale shrinks with  σ.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Gradients poorly conditioned.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Heavy manual reweighting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5448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773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103120"/>
            <a:ext cx="480974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MCMC inner loop (slow).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Slow convergence.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Hyperparameter sensitive.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40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No explicit reverse Gaussian 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What We Want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9601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600" b="0" i="0">
                <a:solidFill>
                  <a:srgbClr val="3C4351"/>
                </a:solidFill>
                <a:latin typeface="Arial"/>
              </a:rPr>
              <a:t>Stable input variance across noise levels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600" b="0" i="0">
                <a:solidFill>
                  <a:srgbClr val="3C4351"/>
                </a:solidFill>
                <a:latin typeface="Arial"/>
              </a:rPr>
              <a:t>Stable target magnitude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600" b="0" i="0">
                <a:solidFill>
                  <a:srgbClr val="3C4351"/>
                </a:solidFill>
                <a:latin typeface="Arial"/>
              </a:rPr>
              <a:t>Well-conditioned regression problem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600" b="0" i="0">
                <a:solidFill>
                  <a:srgbClr val="3C4351"/>
                </a:solidFill>
                <a:latin typeface="Arial"/>
              </a:rPr>
              <a:t>Explicit forward Markov chain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600" b="0" i="0">
                <a:solidFill>
                  <a:srgbClr val="3C4351"/>
                </a:solidFill>
                <a:latin typeface="Arial"/>
              </a:rPr>
              <a:t>Closed-form Gaussian reverse conditionals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6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600" b="0" i="0">
                <a:solidFill>
                  <a:srgbClr val="3C4351"/>
                </a:solidFill>
                <a:latin typeface="Arial"/>
              </a:rPr>
              <a:t>Fixed number of sampling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074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07492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This motivates DDPM.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Reminder: What Was Broken in SMLD?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9890B"/>
                </a:solidFill>
                <a:latin typeface="Arial"/>
              </a:rPr>
              <a:t>TRAINING</a:t>
            </a:r>
          </a:p>
        </p:txBody>
      </p:sp>
      <p:pic>
        <p:nvPicPr>
          <p:cNvPr id="7" name="Picture 6" descr="614633a818487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828" y="2062877"/>
            <a:ext cx="1839158" cy="2633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2606040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If  σ  is large, the input scale explodes; the target  sθ ≈ −ε/σ  shrinks.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611880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Net effect: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poor conditioning, different activation regimes, and the manual weighting  λ(σ) = σ².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D9890B"/>
                </a:solidFill>
                <a:latin typeface="Arial"/>
              </a:rP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1965960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Annealed Langevin dynamics: many MCMC steps per  σ,  requiring step-size tuning and sensitive to drift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3611880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5484D"/>
                </a:solidFill>
                <a:latin typeface="Arial"/>
              </a:rPr>
              <a:t>Net effect: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slow convergence, and no explicit reverse conditional to sample from.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Denoising Diffusion (DDPM)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VP forward process   ·   ε-prediction   ·   Learned Gaussian reverse   ·   The ELBO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DDPM Design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8A909C"/>
                </a:solidFill>
                <a:latin typeface="Arial"/>
              </a:rPr>
              <a:t>Instead of “learn a score field and use Langevin to approximate reverse dynamics”…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468880"/>
            <a:ext cx="9631375" cy="17373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19" y="2468880"/>
            <a:ext cx="8899855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Define an explicit forward Markov chain with simple Gaussian transitions, derive the exact reverse posterior inside that chain, then learn a reverse model that directly imitates those posteriors.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4A47C2"/>
                </a:solidFill>
                <a:latin typeface="Arial"/>
              </a:rPr>
              <a:t>→  This structural change removes inner-loop MCMC.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B1F2A"/>
                </a:solidFill>
                <a:latin typeface="Georgia"/>
              </a:rPr>
              <a:t>Fix #1: Stabilize Variance — The VP Markov Forward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394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910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FORWARD STEP</a:t>
            </a:r>
          </a:p>
        </p:txBody>
      </p:sp>
      <p:pic>
        <p:nvPicPr>
          <p:cNvPr id="7" name="Picture 6" descr="32aa7710e639e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7" y="1951847"/>
            <a:ext cx="4572000" cy="33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6208" y="1371600"/>
            <a:ext cx="5394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910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VARIANCE-PRESERVING CONSTRAINT</a:t>
            </a:r>
          </a:p>
        </p:txBody>
      </p:sp>
      <p:pic>
        <p:nvPicPr>
          <p:cNvPr id="10" name="Picture 9" descr="aae8e6f40a4353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950810"/>
            <a:ext cx="4572000" cy="34119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6974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788920"/>
            <a:ext cx="48097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484D"/>
                </a:solidFill>
                <a:latin typeface="Arial"/>
              </a:rPr>
              <a:t>SMLD: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input norm grows as  σ  — activations drift, gradients shrink.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6974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BF6F0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788920"/>
            <a:ext cx="48097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A150"/>
                </a:solidFill>
                <a:latin typeface="Arial"/>
              </a:rPr>
              <a:t>DDPM: 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input norm stays  O(1)  — consistent activations, stable gradients.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31920"/>
            <a:ext cx="110642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25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973" y="3954780"/>
            <a:ext cx="9409747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Ho, Jain &amp; Abbeel,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779008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8A909C"/>
                </a:solidFill>
                <a:latin typeface="Arial"/>
              </a:rPr>
              <a:t>The forward process gradually adds noise; the reverse process learns to denoise.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Is the Forward Markov Process Essential?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2821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1. TRACTABLE VARIATIONAL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6596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We can efficiently sample and evaluate the forward process because it factorizes:</a:t>
            </a:r>
          </a:p>
        </p:txBody>
      </p:sp>
      <p:pic>
        <p:nvPicPr>
          <p:cNvPr id="8" name="Picture 7" descr="7259e0b002237d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942" y="1943100"/>
            <a:ext cx="3421874" cy="777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338328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36027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2. CLOSED-FORM POSTERIOR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4048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The reverse posterior  q(xₜ₋₁ | xₜ, x₀)  is Gaussian — it is the product of two Gaussians (the forward step and the marginal).</a:t>
            </a:r>
          </a:p>
        </p:txBody>
      </p:sp>
      <p:pic>
        <p:nvPicPr>
          <p:cNvPr id="12" name="Picture 11" descr="ecbb24459768d1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998" y="4030663"/>
            <a:ext cx="2251762" cy="3511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Without the Markov + Gaussian structure, the KL decomposition isn’t computable.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Closed-Form Marginal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Define the cumulative product  </a:t>
            </a:r>
            <a:r>
              <a:rPr sz="1300" b="1" i="0">
                <a:solidFill>
                  <a:srgbClr val="1B1F2A"/>
                </a:solidFill>
                <a:latin typeface="Arial"/>
              </a:rPr>
              <a:t>ᾱₜ = ∏ αₛ.</a:t>
            </a:r>
            <a:r>
              <a:rPr sz="1300" b="0" i="0">
                <a:solidFill>
                  <a:srgbClr val="3C4351"/>
                </a:solidFill>
                <a:latin typeface="Arial"/>
              </a:rPr>
              <a:t>  The one-shot marginal 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b786c1f251a77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879" y="2513125"/>
            <a:ext cx="5161935" cy="368709"/>
          </a:xfrm>
          <a:prstGeom prst="rect">
            <a:avLst/>
          </a:prstGeom>
        </p:spPr>
      </p:pic>
      <p:pic>
        <p:nvPicPr>
          <p:cNvPr id="8" name="Picture 7" descr="d08c560a0a32b8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89" y="3329501"/>
            <a:ext cx="6329516" cy="3818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43484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10332719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You can sample  xₜ  for any  t  directly from  x₀  — no need to simulate intermediate steps. This enables efficient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Fix #2: Predict Noise Instead of Scaled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THE SMLD WAY</a:t>
            </a:r>
          </a:p>
        </p:txBody>
      </p:sp>
      <p:pic>
        <p:nvPicPr>
          <p:cNvPr id="7" name="Picture 6" descr="411542f3ce9f47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58" y="2293303"/>
            <a:ext cx="2278099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3017520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Target scale shrinks as  σ  grows. Gradients vanish at high noise unless manually reweighted.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55448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73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DDPM WAY</a:t>
            </a:r>
          </a:p>
        </p:txBody>
      </p:sp>
      <p:pic>
        <p:nvPicPr>
          <p:cNvPr id="11" name="Picture 10" descr="491aad404e7087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981" y="2293303"/>
            <a:ext cx="3059412" cy="351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28816" y="3017520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Target has constant scale (unit variance) for all  t.  </a:t>
            </a:r>
            <a:r>
              <a:rPr sz="1300" b="1" i="0">
                <a:solidFill>
                  <a:srgbClr val="12A150"/>
                </a:solidFill>
                <a:latin typeface="Arial"/>
              </a:rPr>
              <a:t>Gradients are uniform — far less reliance on weighting hacks.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Fix #3: Replace MCMC with a Learned Gaussian Reverse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367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LEARNED REVERSE STEP</a:t>
            </a:r>
          </a:p>
        </p:txBody>
      </p:sp>
      <p:pic>
        <p:nvPicPr>
          <p:cNvPr id="7" name="Picture 6" descr="400c012f236190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7" y="1961147"/>
            <a:ext cx="4754880" cy="3753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2606040"/>
            <a:ext cx="48097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09C"/>
                </a:solidFill>
                <a:latin typeface="Arial"/>
              </a:rPr>
              <a:t>Sampling update (one step):</a:t>
            </a:r>
          </a:p>
        </p:txBody>
      </p:sp>
      <p:pic>
        <p:nvPicPr>
          <p:cNvPr id="9" name="Picture 8" descr="25d46a692adca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2981659"/>
            <a:ext cx="5029200" cy="4374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36208" y="14173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367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REVERSE PROCESS</a:t>
            </a:r>
          </a:p>
        </p:txBody>
      </p:sp>
      <p:pic>
        <p:nvPicPr>
          <p:cNvPr id="12" name="Picture 11" descr="p2-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7" y="2181781"/>
            <a:ext cx="4846320" cy="10313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Ho, Jain &amp; Abbeel, 2020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40480"/>
            <a:ext cx="11064240" cy="411480"/>
          </a:xfrm>
          <a:prstGeom prst="roundRect">
            <a:avLst>
              <a:gd name="adj" fmla="val 4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40480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8A909C"/>
                </a:solidFill>
                <a:latin typeface="Arial"/>
              </a:rPr>
              <a:t>PROPERTY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840480"/>
            <a:ext cx="3474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E5484D"/>
                </a:solidFill>
                <a:latin typeface="Arial"/>
              </a:rPr>
              <a:t>SMLD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840480"/>
            <a:ext cx="32918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12A150"/>
                </a:solidFill>
                <a:latin typeface="Arial"/>
              </a:rPr>
              <a:t>DDPM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51960"/>
            <a:ext cx="110642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25196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1F2A"/>
                </a:solidFill>
                <a:latin typeface="Arial"/>
              </a:rPr>
              <a:t>Steps per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25196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484D"/>
                </a:solidFill>
                <a:latin typeface="Arial"/>
              </a:rPr>
              <a:t>Many (inner loop)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4251960"/>
            <a:ext cx="3291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A150"/>
                </a:solidFill>
                <a:latin typeface="Arial"/>
              </a:rPr>
              <a:t>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09160"/>
            <a:ext cx="110642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0916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1F2A"/>
                </a:solidFill>
                <a:latin typeface="Arial"/>
              </a:rPr>
              <a:t>Reverse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70916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484D"/>
                </a:solidFill>
                <a:latin typeface="Arial"/>
              </a:rPr>
              <a:t>MCMC (biased)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709160"/>
            <a:ext cx="3291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A150"/>
                </a:solidFill>
                <a:latin typeface="Arial"/>
              </a:rPr>
              <a:t>Exact Gaussian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166360"/>
            <a:ext cx="1106424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16636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1F2A"/>
                </a:solidFill>
                <a:latin typeface="Arial"/>
              </a:rPr>
              <a:t>Hyperparameters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16636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484D"/>
                </a:solidFill>
                <a:latin typeface="Arial"/>
              </a:rPr>
              <a:t>Step size, T,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5166360"/>
            <a:ext cx="3291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2A150"/>
                </a:solidFill>
                <a:latin typeface="Arial"/>
              </a:rPr>
              <a:t>Schedule only</a:t>
            </a:r>
          </a:p>
        </p:txBody>
      </p:sp>
      <p:sp>
        <p:nvSpPr>
          <p:cNvPr id="30" name="Rounded Rectangle 29">
            <a:hlinkClick action="ppaction://hlinksldjump" r:id="rId5"/>
          </p:cNvPr>
          <p:cNvSpPr/>
          <p:nvPr/>
        </p:nvSpPr>
        <p:spPr>
          <a:xfrm>
            <a:off x="4495647" y="589788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  <a:hlinkClick r:id="rId5" action="ppaction://hlinksldjump"/>
              </a:rPr>
              <a:t>Full reverse-step derivation 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DDPM Generative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PRIOR</a:t>
            </a:r>
          </a:p>
        </p:txBody>
      </p:sp>
      <p:pic>
        <p:nvPicPr>
          <p:cNvPr id="7" name="Picture 6" descr="4f6a3705538ea2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99" y="2151754"/>
            <a:ext cx="2444896" cy="359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06324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2826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REVERSE CHAIN</a:t>
            </a:r>
          </a:p>
        </p:txBody>
      </p:sp>
      <p:pic>
        <p:nvPicPr>
          <p:cNvPr id="10" name="Picture 9" descr="04d5f6954d591d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595" y="3660514"/>
            <a:ext cx="5754504" cy="35993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6177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617720"/>
            <a:ext cx="103327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Goal: make  pθ(xₜ₋₁ | xₜ)  match the true reverse behavior induced by the forward chain.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VLB / ELBO: The Probabilistic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We want to maximize the likelihood  log pθ(x₀),  but marginalizing all latents is intractable: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0a464f94a3dac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164" y="2244851"/>
            <a:ext cx="3821365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337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Introduce the forward chain  q(x₁:T|x₀)  as a variational distribution to derive the ELBO: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404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bf9c7b02e906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435" y="4137660"/>
            <a:ext cx="4890824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Expand the ELBO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3c06da1ccd3c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30" y="1805939"/>
            <a:ext cx="7883434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0632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Substituting these into the ELBO yields: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520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6a1c36fd3a4cb1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172" y="3863340"/>
            <a:ext cx="672935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B5BD6"/>
                </a:solidFill>
                <a:latin typeface="Arial"/>
              </a:rPr>
              <a:t>Rearranging gives a sum of KL-divergence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KL Decomposition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bd04c54724ca9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909" y="1965960"/>
            <a:ext cx="5931876" cy="9143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520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So the main learning problem becomes:  </a:t>
            </a:r>
            <a:r>
              <a:rPr sz="1350" b="1" i="0">
                <a:solidFill>
                  <a:srgbClr val="1B1F2A"/>
                </a:solidFill>
                <a:latin typeface="Arial"/>
              </a:rPr>
              <a:t>match  pθ(xₜ₋₁|xₜ)  to the true posterior  q(xₜ₋₁|xₜ,x₀).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06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20624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Because everything is Gaussian, these KL divergences are tractable.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We Can’t Use  q(xₜ₋₁ | xₜ) 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We’d like  q(xₜ₋₁ | xₜ),  but: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9563b9d43795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41" y="2377440"/>
            <a:ext cx="6587812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65760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8862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C4351"/>
                </a:solidFill>
                <a:latin typeface="Arial"/>
              </a:rPr>
              <a:t>That’s a mixture of Gaussians over  x₀,  and mixtures are not Gaussian in general  ⇒  intractable.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B5BD6"/>
                </a:solidFill>
                <a:latin typeface="Arial"/>
              </a:rPr>
              <a:t>This is the key reason DDPM introduces  x₀  in the derivation.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Key Trick: Condition on  x₀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Instead, compute the posterior inside the known forward model: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bb24459768d1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966" y="2613343"/>
            <a:ext cx="2251762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749039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968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BECAUSE THE FORWARD PROCESS IS LINEAR-GAUSSIAN MARKOV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This posterior will be Gaussian.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It can be derived exactly by multiplying Gaussians.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Practical Reverse Step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After substituting and simplifying, the reverse mean 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3be07aa01fc2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682" y="2646246"/>
            <a:ext cx="6158329" cy="8339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3C4351"/>
                </a:solidFill>
                <a:latin typeface="Arial"/>
              </a:rPr>
              <a:t>This formula tells us exactly how to denoise  xₜ.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5B5BD6"/>
                </a:solidFill>
                <a:latin typeface="Arial"/>
              </a:rPr>
              <a:t>Notice the similarity to Langevin dynamics?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Final Sampling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To sample  xₜ₋₁  from  xₜ: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e04d5c51f3f7b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86" y="2837554"/>
            <a:ext cx="5995921" cy="359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2062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206240"/>
            <a:ext cx="1033271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This is a single Gaussian step. Iterate from  T → 0.   No MCMC. No inner loops.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DDPM Algorithm Recap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20240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1.  Sample  x₀ ∼ q(x₀),  ε ∼ N(0,I),  t ∼ Uniform(1,T).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2.  Take a gradient step on:</a:t>
            </a:r>
          </a:p>
        </p:txBody>
      </p:sp>
      <p:pic>
        <p:nvPicPr>
          <p:cNvPr id="8" name="Picture 7" descr="1579e45617ea40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3869713"/>
            <a:ext cx="4846320" cy="4901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36208" y="146304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824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920240"/>
            <a:ext cx="4809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1.  Sample  x_T ∼ N(0,I).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2.  For  t = T, …, 1:</a:t>
            </a:r>
          </a:p>
        </p:txBody>
      </p:sp>
      <p:pic>
        <p:nvPicPr>
          <p:cNvPr id="12" name="Picture 11" descr="25d46a692adca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7" y="3442836"/>
            <a:ext cx="4937760" cy="4295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28816" y="4480560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C4351"/>
                </a:solidFill>
                <a:latin typeface="Arial"/>
              </a:rPr>
              <a:t>3.  Return  x₀.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Loss Function Derivation (Simplified)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The KL term becomes a weighted MSE between the true noise and the predicted noise: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0a68b26cc1c4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549" y="2308860"/>
            <a:ext cx="3774596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C4351"/>
                </a:solidFill>
                <a:latin typeface="Arial"/>
              </a:rPr>
              <a:t>DDPM ignores the weighting term for better sample quality: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1148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14800"/>
            <a:ext cx="1033271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148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3c9139aac42ee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73" y="4585519"/>
            <a:ext cx="4990748" cy="430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DDPM vs. SMLD: The Final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367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E5484D"/>
                </a:solidFill>
                <a:latin typeface="Arial"/>
              </a:rPr>
              <a:t>SMLD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Implicit reverse process (Langevin approximation)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Unstable training targets — scale varies with σ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5484D"/>
                </a:solidFill>
                <a:latin typeface="Arial"/>
              </a:rPr>
              <a:t>✗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Slow, fragile MCMC sampling with inner loops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17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367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DDPM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874519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Explicit reverse process (closed-form Gaussian posterior)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Stable training targets — unit-variance noise prediction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150" b="0" i="0">
                <a:solidFill>
                  <a:srgbClr val="3C4351"/>
                </a:solidFill>
                <a:latin typeface="Arial"/>
              </a:rPr>
              <a:t>Fixed-step ancestral sampling — no inner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57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DDPM GENERATION QUALITY</a:t>
            </a:r>
          </a:p>
        </p:txBody>
      </p:sp>
      <p:pic>
        <p:nvPicPr>
          <p:cNvPr id="12" name="Picture 11" descr="p40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0" y="3954779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Arial"/>
              </a:rPr>
              <a:t>CelebA-HQ 256×256</a:t>
            </a:r>
          </a:p>
        </p:txBody>
      </p:sp>
      <p:pic>
        <p:nvPicPr>
          <p:cNvPr id="14" name="Picture 13" descr="p40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44" y="3954779"/>
            <a:ext cx="141732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61104" y="5440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Arial"/>
              </a:rPr>
              <a:t>CIFAR-10 — FID 3.17 / IS 9.46</a:t>
            </a:r>
          </a:p>
        </p:txBody>
      </p:sp>
      <p:pic>
        <p:nvPicPr>
          <p:cNvPr id="16" name="Picture 15" descr="p40-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059935"/>
            <a:ext cx="3108960" cy="12070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73568" y="5440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Arial"/>
              </a:rPr>
              <a:t>LSUN Church 7.89 / Bedroom 4.90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Ho, Jain &amp; Abbeel, 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DDPM Generation Quality</a:t>
            </a:r>
          </a:p>
        </p:txBody>
      </p:sp>
      <p:pic>
        <p:nvPicPr>
          <p:cNvPr id="5" name="Picture 4" descr="p41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629" y="1371600"/>
            <a:ext cx="1272021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30358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B1F2A"/>
                </a:solidFill>
                <a:latin typeface="Arial"/>
              </a:rPr>
              <a:t>CelebA-HQ 256×256</a:t>
            </a:r>
          </a:p>
        </p:txBody>
      </p:sp>
      <p:pic>
        <p:nvPicPr>
          <p:cNvPr id="7" name="Picture 6" descr="p40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371600"/>
            <a:ext cx="155448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61104" y="30358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B1F2A"/>
                </a:solidFill>
                <a:latin typeface="Arial"/>
              </a:rPr>
              <a:t>CIFAR-10 — FID 3.17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564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60">
                <a:solidFill>
                  <a:srgbClr val="5B5BD6"/>
                </a:solidFill>
                <a:latin typeface="Arial"/>
              </a:rPr>
              <a:t>QUANTITATIVE RESULTS (CIFAR-10 UNCONDITIONAL)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776472"/>
            <a:ext cx="9784080" cy="36576"/>
          </a:xfrm>
          <a:prstGeom prst="rect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6791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1F2A"/>
                </a:solidFill>
                <a:latin typeface="Arial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86791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1F2A"/>
                </a:solidFill>
                <a:latin typeface="Arial"/>
              </a:rPr>
              <a:t>IS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86791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1F2A"/>
                </a:solidFill>
                <a:latin typeface="Arial"/>
              </a:rPr>
              <a:t>FID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7" y="386791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1F2A"/>
                </a:solidFill>
                <a:latin typeface="Arial"/>
              </a:rPr>
              <a:t>NLL (bits/dim)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33672"/>
            <a:ext cx="978408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33672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Arial"/>
              </a:rPr>
              <a:t>PixelCNN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423367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4.60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4233672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65.93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4233672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3.03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978408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617720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Arial"/>
              </a:rPr>
              <a:t>NCSN (Song &amp; Ermon ’19)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461772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8.87 ± 0.12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61772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25.32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7" y="461772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001768"/>
            <a:ext cx="978408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001768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Arial"/>
              </a:rPr>
              <a:t>SNGAN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001768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8.22 ± 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5001768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21.7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5001768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385816"/>
            <a:ext cx="9784080" cy="9144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385816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Arial"/>
              </a:rPr>
              <a:t>StyleGAN2 + 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5385816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9.74 ± 0.05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5385816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3.26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7" y="5385816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Arial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769864"/>
            <a:ext cx="9784080" cy="384048"/>
          </a:xfrm>
          <a:prstGeom prst="roundRect">
            <a:avLst>
              <a:gd name="adj" fmla="val 4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769864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A150"/>
                </a:solidFill>
                <a:latin typeface="Arial"/>
              </a:rPr>
              <a:t>DDPM (Lₛimple) [Ours]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8768" y="5769864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A150"/>
                </a:solidFill>
                <a:latin typeface="Arial"/>
              </a:rPr>
              <a:t>9.46 ± 0.11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769864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A150"/>
                </a:solidFill>
                <a:latin typeface="Arial"/>
              </a:rPr>
              <a:t>3.17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7" y="5769864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2A150"/>
                </a:solidFill>
                <a:latin typeface="Arial"/>
              </a:rPr>
              <a:t>≤ 3.75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Ho, Jain &amp; Abbeel,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The DDPM reverse process,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Bayes &amp; the posterior   ·   Completing the square   ·   Mean &amp; variance   ·   ELBO derivation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Reverse Step — What We Want, and Why It’s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Ideally we’d sample with the true reverse conditional  q(xₜ₋₁ | xₜ).  But marginally it is a mixture over the unknown x₀: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9563b9d43795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41" y="2596896"/>
            <a:ext cx="6587812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5484D"/>
                </a:solidFill>
                <a:latin typeface="Arial"/>
              </a:rPr>
              <a:t>A mixture of Gaussians is not Gaussian ⇒ intractable. 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Fix: condition on x₀ for a closed-form posterior, then replace x₀ with a model estimate.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Bayes’ Rule,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The forward Markov property gives  q(xₜ | xₜ₋₁, x₀) = q(xₜ | xₜ₋₁),  so: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0e57316c7935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371" y="2596896"/>
            <a:ext cx="5680953" cy="731520"/>
          </a:xfrm>
          <a:prstGeom prst="rect">
            <a:avLst/>
          </a:prstGeom>
        </p:spPr>
      </p:pic>
      <p:pic>
        <p:nvPicPr>
          <p:cNvPr id="8" name="Picture 7" descr="5854c7205ffecc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33" y="3683191"/>
            <a:ext cx="4047027" cy="351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599432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B5BD6"/>
                </a:solidFill>
                <a:latin typeface="Arial"/>
              </a:rPr>
              <a:t>Still Gaussian: </a:t>
            </a:r>
            <a:r>
              <a:rPr sz="1250" b="0" i="0">
                <a:solidFill>
                  <a:srgbClr val="3C4351"/>
                </a:solidFill>
                <a:latin typeface="Arial"/>
              </a:rPr>
              <a:t>the denominator q(xₜ | x₀) doesn’t depend on xₜ₋₁, so it is only a normalizing constant.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The Two Gaussian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Both factors are Gaussian in the same variable xₜ₋₁: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f981b79d437a8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247" y="2780495"/>
            <a:ext cx="6957200" cy="364320"/>
          </a:xfrm>
          <a:prstGeom prst="rect">
            <a:avLst/>
          </a:prstGeom>
        </p:spPr>
      </p:pic>
      <p:pic>
        <p:nvPicPr>
          <p:cNvPr id="8" name="Picture 7" descr="caceec1ce13951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662" y="3678802"/>
            <a:ext cx="7466370" cy="359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599432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log-Gaussian is quadratic; the sum of quadratics is quadratic; exp of a quadratic is Gaussian.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Collect into a Quadratic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Adding the exponents and keeping the terms in xₜ₋₁ gives  −½(xᵀA x − 2bᵀx + const), with: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45aa743a1c75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398" y="2596896"/>
            <a:ext cx="2764897" cy="731520"/>
          </a:xfrm>
          <a:prstGeom prst="rect">
            <a:avLst/>
          </a:prstGeom>
        </p:spPr>
      </p:pic>
      <p:pic>
        <p:nvPicPr>
          <p:cNvPr id="8" name="Picture 7" descr="d2204e0ae8dc38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151" y="3493008"/>
            <a:ext cx="3637392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599432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The square roots matter: the forward mean is  √αₜ xₜ₋₁  and the marginal mean is  √ᾱₜ₋₁ x₀.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Complete the Square → Gaussian Posterior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A quadratic  −½(xᵀA x − 2bᵀx)  is a Gaussian with precision A, covariance A⁻¹, mean A⁻¹b: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b69f223c625b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667" y="2738796"/>
            <a:ext cx="8796359" cy="4477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A = precision (inverse variance);   β̃ₜ = A⁻¹ = variance;   √β̃ₜ = the std used for the sampling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Posterior Variance  β̃ₜ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Invert the precision and use  βₜ = 1−αₜ,  ᾱₜ = αₜ ᾱₜ₋₁  (so the denominator collapses to 1−ᾱₜ):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f8fd90c42584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289" y="2596896"/>
            <a:ext cx="3389116" cy="731520"/>
          </a:xfrm>
          <a:prstGeom prst="rect">
            <a:avLst/>
          </a:prstGeom>
        </p:spPr>
      </p:pic>
      <p:pic>
        <p:nvPicPr>
          <p:cNvPr id="8" name="Picture 7" descr="cebc9969015e10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40" y="3493008"/>
            <a:ext cx="3468413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599432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2A150"/>
                </a:solidFill>
                <a:latin typeface="Arial"/>
              </a:rPr>
              <a:t>A fixed constant from the noise schedule — no learnable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Posterior Mean (given x₀)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Carrying out  A⁻¹b  and simplifying gives the exact mean inside the forward process: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9c3151a4c0890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896" y="2596896"/>
            <a:ext cx="6243902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5484D"/>
                </a:solidFill>
                <a:latin typeface="Arial"/>
              </a:rPr>
              <a:t>Exact identity — but it needs x₀, which we don’t have at sampling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Estimate x₀ via Predicted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Invert the forward marginal  xₜ = √ᾱₜ x₀ + √(1−ᾱₜ) ε  and use the network’s noise prediction: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cfd60ff4dd62e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512" y="2596896"/>
            <a:ext cx="551267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5BD6"/>
                </a:solidFill>
                <a:latin typeface="Arial"/>
              </a:rPr>
              <a:t>Why not just re-noise x̂₀?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that samples the prior q(xₜ₋₁|x₀) and ignores the realized xₜ — too much variance. The posterior conditions on xₜ (variance β̃ₜ).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Practical Mean &amp; Ancestral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Substitute  x₀ ≈ x̂₀  into μ̃ₜ to get the noise-prediction mean, then take one Gaussian step: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3be07aa01fc2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998" y="2596896"/>
            <a:ext cx="5401697" cy="731520"/>
          </a:xfrm>
          <a:prstGeom prst="rect">
            <a:avLst/>
          </a:prstGeom>
        </p:spPr>
      </p:pic>
      <p:pic>
        <p:nvPicPr>
          <p:cNvPr id="8" name="Picture 7" descr="b64df2ee404306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505" y="3544925"/>
            <a:ext cx="6342684" cy="6276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599432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A909C"/>
                </a:solidFill>
                <a:latin typeface="Arial"/>
              </a:rPr>
              <a:t>Set  z = 0  for the final step (t = 1 → 0).  No inner-loop MCMC.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ELBO Derivation: Multiply / Divide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Start with the log-likelihood of the data  x₀,  then multiply and divide by  q(x₁:T|x₀):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0a464f94a3dac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238" y="2596896"/>
            <a:ext cx="4703218" cy="731520"/>
          </a:xfrm>
          <a:prstGeom prst="rect">
            <a:avLst/>
          </a:prstGeom>
        </p:spPr>
      </p:pic>
      <p:pic>
        <p:nvPicPr>
          <p:cNvPr id="8" name="Picture 7" descr="040d692d336c0a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854" y="3493008"/>
            <a:ext cx="5143986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ELBO Derivation: Jensen's Inequality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Applying Jensen's inequality  (log 𝔼 ≥ 𝔼 log):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955f0a523f4b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08" y="2596896"/>
            <a:ext cx="5626478" cy="731520"/>
          </a:xfrm>
          <a:prstGeom prst="rect">
            <a:avLst/>
          </a:prstGeom>
        </p:spPr>
      </p:pic>
      <p:pic>
        <p:nvPicPr>
          <p:cNvPr id="8" name="Picture 7" descr="788bbbcc97883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239" y="3648076"/>
            <a:ext cx="6619216" cy="4213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ELBO Derivation: Expanding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Use the Markov property to expand the log-joint and the log-variational posterior: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6e238cdebbc7e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28" y="2596896"/>
            <a:ext cx="5063638" cy="731520"/>
          </a:xfrm>
          <a:prstGeom prst="rect">
            <a:avLst/>
          </a:prstGeom>
        </p:spPr>
      </p:pic>
      <p:pic>
        <p:nvPicPr>
          <p:cNvPr id="8" name="Picture 7" descr="7ece559cc09412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793" y="3493008"/>
            <a:ext cx="3990109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4A47C2"/>
                </a:solidFill>
                <a:latin typeface="Georgia"/>
              </a:rPr>
              <a:t>ELBO Derivation: Final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08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3C4351"/>
                </a:solidFill>
                <a:latin typeface="Arial"/>
              </a:rPr>
              <a:t>Combining the terms, the ELBO becomes: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1106424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69ede593dcd6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46" y="2596896"/>
            <a:ext cx="7410202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B5BD6"/>
                </a:solidFill>
                <a:latin typeface="Arial"/>
              </a:rPr>
              <a:t>We then rearrange this into the sum of KL divergences.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4406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[1]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Song &amp; Ermon (2019).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Generative Modeling by Estimating Gradients of the Data Distribution.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[2]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Ho, Jain &amp; Abbeel (2020).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Denoising Diffusion Probabilistic Models.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[3]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Sohl-Dickstein, Weiss, Maheswaranathan &amp; Ganguli (2015).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Deep Unsupervised Learning using Nonequilibrium Thermodynamics.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ICML.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[4]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Welling &amp; Teh (2011).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Bayesian Learning via Stochastic Gradient Langevin Dynamics.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ICML.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72768"/>
            <a:ext cx="54406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[5]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Vincent (2011).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A Connection Between Score Matching and Denoising Autoencoders.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Neural Computation.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[6]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Hyvärinen (2005).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Estimation of Non-Normalized Statistical Models by Score Matching.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JMLR.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150" b="1" i="0">
                <a:solidFill>
                  <a:srgbClr val="5B5BD6"/>
                </a:solidFill>
                <a:latin typeface="Arial"/>
              </a:rPr>
              <a:t>[7]  </a:t>
            </a:r>
            <a:r>
              <a:rPr sz="1150" b="1" i="0">
                <a:solidFill>
                  <a:srgbClr val="1B1F2A"/>
                </a:solidFill>
                <a:latin typeface="Arial"/>
              </a:rPr>
              <a:t>Song, Sohl-Dickstein, Kingma, Kumar, Ermon &amp; Poole (2021). </a:t>
            </a:r>
            <a:r>
              <a:rPr sz="1150" b="0" i="1">
                <a:solidFill>
                  <a:srgbClr val="3C4351"/>
                </a:solidFill>
                <a:latin typeface="Arial"/>
              </a:rPr>
              <a:t>Score-Based Generative Modeling through Stochastic Differential Equations.  </a:t>
            </a:r>
            <a:r>
              <a:rPr sz="1150" b="0" i="0">
                <a:solidFill>
                  <a:srgbClr val="8A909C"/>
                </a:solidFill>
                <a:latin typeface="Arial"/>
              </a:rPr>
              <a:t>ICLR.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62 /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