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572768"/>
            <a:ext cx="11430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spc="300">
                <a:solidFill>
                  <a:srgbClr val="5B5BD6"/>
                </a:solidFill>
                <a:latin typeface="Arial"/>
              </a:rPr>
              <a:t>GENERATIVE MODELING   ·  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2286000"/>
            <a:ext cx="11430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1B1F2A"/>
                </a:solidFill>
                <a:latin typeface="Georgia"/>
              </a:rPr>
              <a:t>Flow Matching &amp; Optimal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639312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0" i="1">
                <a:solidFill>
                  <a:srgbClr val="5B5BD6"/>
                </a:solidFill>
                <a:latin typeface="Arial"/>
              </a:rPr>
              <a:t>From normalizing flows to conditional flow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247" y="4334256"/>
            <a:ext cx="5029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c9e41183e5d5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884" y="4617340"/>
            <a:ext cx="3177926" cy="4213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5504688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B1F2A"/>
                </a:solidFill>
                <a:latin typeface="Arial"/>
              </a:rPr>
              <a:t>Sudarshan Babu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961888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Slides created using Claude and Manus AI — each slide was prompted by the author.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276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1572768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Normalizing Flows &amp; CNFs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Discrete flows, the Jacobian bottleneck, and continuous-time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231136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Flow Matching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continuity equation and vector-field regression.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443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889504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Conditional Flow Matching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Conditional paths, marginalization, and the CFM theorem.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027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547872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Gaussian Paths &amp; the Closed-Form Field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canonical affine flow and its exact velocity.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6110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611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2062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Diffusion as a Special Case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Recovering VE / VP and the probability-flow 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919471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864607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Optimal Transport Paths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Straight-line transport and more efficient sampling.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57783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7783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5522975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Results from the Paper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ImageNet &amp; CIFAR-10, sampling efficiency, super-resolution.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Normalizing Flows &amp; CNFs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The core problem   ·   Discrete flows   ·   Continuous flows   ·   The training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The Core Problem in Generative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91440" cy="7589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Goal: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Learn a model of a complex, high-dimensional data distribution p₁(x) over data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0048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5484D"/>
                </a:solidFill>
                <a:latin typeface="Arial"/>
              </a:rPr>
              <a:t>The fundamental challenge: </a:t>
            </a:r>
            <a:r>
              <a:rPr sz="1450" b="0" i="0">
                <a:solidFill>
                  <a:srgbClr val="3C4351"/>
                </a:solidFill>
                <a:latin typeface="Arial"/>
              </a:rPr>
              <a:t>real-world data (images, audio, molecules) lives on complex, high-dimensional manifolds that are intractable to model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0098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009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246120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Start from a simple base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A tractable distribution p₀, e.g. a standard Gaussian 𝒩(0, 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06907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6907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4014215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Learn a transformation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A map that pushes the base p₀ forward onto the data p₁.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37175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3717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782312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Use it both ways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same transformation gives sampling and density estimation.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715000"/>
            <a:ext cx="103327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Central question:  how do we parameterize and learn this transformation efficiently?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Discrete Normalizing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19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84832"/>
            <a:ext cx="48097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Learn an invertible, differentiable map ϕ so that x = ϕ(z) for base noise z ∼ p₀. </a:t>
            </a:r>
          </a:p>
        </p:txBody>
      </p:sp>
      <p:pic>
        <p:nvPicPr>
          <p:cNvPr id="8" name="Picture 7" descr="ed026fada5ff01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54" y="2559575"/>
            <a:ext cx="4924907" cy="4038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383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6027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CHANGE OF VARIABLES</a:t>
            </a:r>
          </a:p>
        </p:txBody>
      </p:sp>
      <p:pic>
        <p:nvPicPr>
          <p:cNvPr id="11" name="Picture 10" descr="afefd24d2a582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20" y="4139644"/>
            <a:ext cx="4648375" cy="86471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5080" y="16093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93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54480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Invert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Compute z = ϕ⁻¹(x) from the data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591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591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304288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Evaluate base density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Compute p₀(z) under the simple prior.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108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10896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054096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Add log-Jacobian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Correct for the volume change of the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15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C9C9F6"/>
                </a:solidFill>
                <a:latin typeface="Arial"/>
              </a:rPr>
              <a:t>TRAINING OBJECTIVE · MAXIMUM LIKELIHOOD</a:t>
            </a:r>
          </a:p>
        </p:txBody>
      </p:sp>
      <p:pic>
        <p:nvPicPr>
          <p:cNvPr id="23" name="Picture 22" descr="235e4ff6517db5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280" y="4811555"/>
            <a:ext cx="3445679" cy="5267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[4]  Rezende &amp; Mohamed, 2015    ·    [5]  Dinh et al., 2017 (RealNVP)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Bottleneck of Discrete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5484D"/>
                </a:solidFill>
                <a:latin typeface="Arial"/>
              </a:rPr>
              <a:t>The Jacobian determinant is the central computational bottleneck.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36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For a general dense Jacobian, exact computation costs O(d³) — infeasible in high dimensions. Every practical family buys tractability by restricting the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06040"/>
            <a:ext cx="1106424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38044"/>
            <a:ext cx="1106424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38044"/>
            <a:ext cx="3377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7888" y="2638044"/>
            <a:ext cx="3041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Trick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638044"/>
            <a:ext cx="3712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5244"/>
            <a:ext cx="3377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RealNVP / Glow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888" y="3095244"/>
            <a:ext cx="3041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Coupling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95244"/>
            <a:ext cx="371246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Restricted expressivity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4388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43884"/>
            <a:ext cx="3377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Autoregressive (MAF, IAF)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7888" y="3643884"/>
            <a:ext cx="3041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Triangular Jacobian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3643884"/>
            <a:ext cx="371246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Slow sampling or slow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9252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92524"/>
            <a:ext cx="3377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Residual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7888" y="4192524"/>
            <a:ext cx="3041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Trace estimator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4192524"/>
            <a:ext cx="371246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Approximate likelihood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74116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741164"/>
            <a:ext cx="1106424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52578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531266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25780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890B"/>
                </a:solidFill>
                <a:latin typeface="Arial"/>
              </a:rPr>
              <a:t>Fundamental tension: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tractability of the Jacobian requires restricting the architecture, which inherently limits the expressivity of the learned 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[5]  RealNVP    ·    [6]  Glow    ·    [7]  MAF / IAF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1F2A"/>
                </a:solidFill>
                <a:latin typeface="Georgia"/>
              </a:rPr>
              <a:t>Continuous Normalizing Flows (CNFs)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FLOW ODE</a:t>
            </a:r>
          </a:p>
        </p:txBody>
      </p:sp>
      <p:pic>
        <p:nvPicPr>
          <p:cNvPr id="7" name="Picture 6" descr="5d147cb53ad9a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2041607"/>
            <a:ext cx="4937760" cy="6716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3456432"/>
            <a:ext cx="5303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ϕₜ is the flow map at time t ∈ [0, 1].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vₜ(· ; θ) is a learned, time-dependent vector field, parameterized by a neural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81328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536192"/>
            <a:ext cx="91440" cy="112471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481328"/>
            <a:ext cx="482803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Key idea: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replace the discrete invertible map with a continuous-time dynamical system governed by an 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88036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998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DENSITY TRANSPORT</a:t>
            </a:r>
          </a:p>
        </p:txBody>
      </p:sp>
      <p:pic>
        <p:nvPicPr>
          <p:cNvPr id="14" name="Picture 13" descr="0fc236258140b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409" y="3392409"/>
            <a:ext cx="1922557" cy="4389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36208" y="4370832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46085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974336"/>
            <a:ext cx="480974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Integrate the ODE forward from t = 0 to t = 1, starting from z ∼ p₀.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Chen et al., 2018 — Neural Ordinary Differential Equations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Density Evaluation in CNFs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Change of variables still applies at every time 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82ca88446ab6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022" y="2135278"/>
            <a:ext cx="4617649" cy="8866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45643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E5484D"/>
                </a:solidFill>
                <a:latin typeface="Arial"/>
              </a:rPr>
              <a:t>Two compounding difficulties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4048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078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1.  NO CLOSED FORM FOR Φₜ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443984"/>
            <a:ext cx="48097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The flow map must be obtained by numerically integrating the ODE, which is costly at test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84048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4078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2.  JACOBIAN IS STILL O(D³)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443984"/>
            <a:ext cx="48097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Exact density evaluation still needs the full Jacobian, which scales poorly with dimension.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15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8A909C"/>
                </a:solidFill>
                <a:latin typeface="Arial"/>
              </a:rPr>
              <a:t>These issues motivate a smarter way to track how density changes along the 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The Instantaneous Change of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6304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Key insight: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instead of tracking the global volume change via the determinant, track the instantaneous rate of change via the divergence.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42032"/>
            <a:ext cx="7040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761487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INSTANTANEOUS CHANGE OF VARIABLES  (LIOUVILLE)</a:t>
            </a:r>
          </a:p>
        </p:txBody>
      </p:sp>
      <p:pic>
        <p:nvPicPr>
          <p:cNvPr id="10" name="Picture 9" descr="926c7cbf27096d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53" y="3081499"/>
            <a:ext cx="6448029" cy="877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251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where xₜ = ϕₜ(x₀) is the trajectory of x₀ under the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542032"/>
            <a:ext cx="3858768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7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GLOBAL VS INSTANTANEOUS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127248"/>
            <a:ext cx="3520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Global: a determinant volume ratio at time 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Instantaneous: accumulated local expansion / compression.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83480"/>
            <a:ext cx="11064240" cy="114300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5038344"/>
            <a:ext cx="91440" cy="1033271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983480"/>
            <a:ext cx="1049731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 divergence is the trace of the Jacobian: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div(vₜ) = tr(∇ₓ vₜ) costs O(d²) exactly — but, crucially, it is amenable to cheap stochastic estimation.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Practical Density Computation in CNFs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19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AUGMENTED ODE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84832"/>
            <a:ext cx="4809744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Jointly integrate the state and the log-density along the trajectory.   Boundary: x₀ ∼ p₀,  f(1) 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24912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733dacc78a131f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590" y="3024823"/>
            <a:ext cx="1641635" cy="351152"/>
          </a:xfrm>
          <a:prstGeom prst="rect">
            <a:avLst/>
          </a:prstGeom>
        </p:spPr>
      </p:pic>
      <p:pic>
        <p:nvPicPr>
          <p:cNvPr id="10" name="Picture 9" descr="f2bc1fff863e7c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480" y="3662340"/>
            <a:ext cx="3041854" cy="44771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1481328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OUTPUT  (INTEGRATE T = 1 → 0)</a:t>
            </a:r>
          </a:p>
        </p:txBody>
      </p:sp>
      <p:pic>
        <p:nvPicPr>
          <p:cNvPr id="13" name="Picture 12" descr="576d1ec6b3057a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72" y="2156143"/>
            <a:ext cx="4459631" cy="3511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36208" y="3035808"/>
            <a:ext cx="5394960" cy="1060704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3090672"/>
            <a:ext cx="91440" cy="950976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035808"/>
            <a:ext cx="4828032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Stochastic trace estimator (Hutchinson):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an unbiased estimate of the divergence.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4340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109936fa9d3e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293" y="4662695"/>
            <a:ext cx="6167108" cy="4038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440680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Reduces the per-sample cost of the divergence from O(d²) to O(d).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Chen et al., 2018 (Neural ODEs)    ·    [3]  Grathwohl et al., 2018 (FFJORD)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CNFs Remain Difficult to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Despite their theoretical elegance, Continuous Normalizing Flows face serious practical obstacles in training-time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57400"/>
            <a:ext cx="1106424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89404"/>
            <a:ext cx="1106424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89404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089404"/>
            <a:ext cx="63276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Consequence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660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ODE solve per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546604"/>
            <a:ext cx="63276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Many network function evaluations per gradient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9524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09524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Adjoint method for gradients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3095244"/>
            <a:ext cx="63276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Numerically unstable; memory-intensive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4388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4388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Divergence computation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3643884"/>
            <a:ext cx="63276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Needs a Jacobian–vector product even with Hutchinson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9252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9252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Sequential time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4192524"/>
            <a:ext cx="63276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Cannot be parallelized across time steps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41164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41164"/>
            <a:ext cx="1106424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5486400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5541264"/>
            <a:ext cx="91440" cy="75895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486400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Net effect: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CNF training is orders of magnitude slower than discrete-flow training on the same architecture, making scaling to high-resolution data challenging.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CNFs —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WHAT CNFS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Flexible density modeling with no architectural constraints on the vector field vₜ.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Exact — or stochastically approximate — likelihood evaluation.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Continuous interpolation between the base p₀ and the data p₁.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REMAINING BOTTLENECK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240280"/>
            <a:ext cx="498348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272284"/>
            <a:ext cx="498348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272284"/>
            <a:ext cx="1350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272284"/>
            <a:ext cx="3011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29484"/>
            <a:ext cx="13502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484D"/>
                </a:solidFill>
                <a:latin typeface="Arial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2729484"/>
            <a:ext cx="30114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Vector field vₜ(· ; θ) via MLE + adjoint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332988"/>
            <a:ext cx="498348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332988"/>
            <a:ext cx="13502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484D"/>
                </a:solidFill>
                <a:latin typeface="Arial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3332988"/>
            <a:ext cx="30114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Implicit; obtained by ODE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936492"/>
            <a:ext cx="498348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936492"/>
            <a:ext cx="13502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484D"/>
                </a:solidFill>
                <a:latin typeface="Arial"/>
              </a:rPr>
              <a:t>Likelihood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3936492"/>
            <a:ext cx="30114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Trajectory + divergence integral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39996"/>
            <a:ext cx="498348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4539996"/>
            <a:ext cx="498348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5852160"/>
            <a:ext cx="11064240" cy="658368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5907024"/>
            <a:ext cx="91440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852160"/>
            <a:ext cx="104973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Conclusion: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CNFs are expressive but expensive — training simulates the ODE, coupling forward and backward passes in a costly, unstable way.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Flow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Continuity equation   ·   Vector-field regression   ·   From CNF to FM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The Key Observation Behind Flow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91440" cy="80467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81328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Critical observation: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ODE simulation is not needed during training — if we can directly supervise the vector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0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PROPOSED SHIFT IN PERSPECTIVE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1181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181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063240"/>
            <a:ext cx="4846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Define a path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Choose a probability path pₜ interpolating p₀ → p₁ analytically.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9593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593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904488"/>
            <a:ext cx="4846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Derive the target field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Get the vector field uₜ that generates the path via the continuity equation.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00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006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745736"/>
            <a:ext cx="4846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Regress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Train vₜ(· ; θ) to match uₜ — no ODE solve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97480"/>
            <a:ext cx="51663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91693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PARADIGM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546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C4351"/>
                </a:solidFill>
                <a:latin typeface="Arial"/>
              </a:rPr>
              <a:t>Simulation-based MLE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8A909C"/>
                </a:solidFill>
                <a:latin typeface="Arial"/>
              </a:rPr>
              <a:t>(CNF)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5B5BD6"/>
                </a:solidFill>
                <a:latin typeface="Arial"/>
              </a:rPr>
              <a:t>↓</a:t>
            </a:r>
          </a:p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Supervised vector-field regression</a:t>
            </a:r>
          </a:p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(Flow Matching)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63440"/>
            <a:ext cx="5166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A909C"/>
                </a:solidFill>
                <a:latin typeface="Arial"/>
              </a:rPr>
              <a:t>This reframing converts an expensive, numerically unstable optimization into a stable, scalable supervised learning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Flow Matching —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0408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GOVERNING EQUATION — CONTINUITY</a:t>
            </a:r>
          </a:p>
        </p:txBody>
      </p:sp>
      <p:pic>
        <p:nvPicPr>
          <p:cNvPr id="7" name="Picture 6" descr="fdf35d93d89a54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041" y="2075308"/>
            <a:ext cx="3208652" cy="4213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297180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Any pair (pₜ, uₜ) satisfying this equation defines a valid generative flow from p₀ to p₁.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11880"/>
            <a:ext cx="7040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831336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FLOW MATCHING OBJECTIVE</a:t>
            </a:r>
          </a:p>
        </p:txBody>
      </p:sp>
      <p:pic>
        <p:nvPicPr>
          <p:cNvPr id="11" name="Picture 10" descr="df8eca0f088cc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17" y="4365329"/>
            <a:ext cx="5921301" cy="5047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63840" y="1481328"/>
            <a:ext cx="3767328" cy="4187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00784"/>
            <a:ext cx="3218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ADVANTAGES OVER CNF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19456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No ODE solve during training.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No adjoint-method gradients.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Numerically stable and highly parallelizable.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Scales to large neural-network architectures.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Comparing the Three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A unified view of flow-based generative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6424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60804"/>
            <a:ext cx="1106424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60804"/>
            <a:ext cx="1947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7816" y="1860804"/>
            <a:ext cx="239871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What is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7425" y="1860804"/>
            <a:ext cx="30761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Training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4438" y="1860804"/>
            <a:ext cx="239871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Inference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18004"/>
            <a:ext cx="19471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Discrete 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7816" y="2318004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Invertible map 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7425" y="2318004"/>
            <a:ext cx="307611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Jacobian determinant O(d³)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4438" y="2318004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Single forward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30068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30068"/>
            <a:ext cx="19471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CNF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7816" y="2830068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Vector field vₜ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7425" y="2830068"/>
            <a:ext cx="307611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ODE solve + divergence integral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4438" y="2830068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ODE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42132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42132"/>
            <a:ext cx="19471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Flow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7816" y="3342132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Vector field vₜ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7425" y="3342132"/>
            <a:ext cx="307611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Regression (MSE)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4438" y="3342132"/>
            <a:ext cx="239871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ODE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54196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854196"/>
            <a:ext cx="1106424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160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PROGRESSION OF IDEAS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26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Discrete NF — exact, but architecturally constrained.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CNF — flexible, but training is simulation-based and costly.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Flow Matching — flexible, and training reduces to regression.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715000"/>
            <a:ext cx="11064240" cy="658368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5769864"/>
            <a:ext cx="91440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715000"/>
            <a:ext cx="104973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In one line: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Flow Matching inherits the expressiveness of CNFs while replacing simulation-based training with a simple, stable supervised objective.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Open Questions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WHAT WE HAVE ESTABLISHED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Flow Matching frames generative modeling as vector-field regression.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The continuity equation guarantees the learned flow transports p₀ → p₁.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544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E5484D"/>
                </a:solidFill>
                <a:latin typeface="Arial"/>
              </a:rPr>
              <a:t>TWO OPEN QUESTIONS REMAIN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938528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1F2A"/>
                </a:solidFill>
                <a:latin typeface="Arial"/>
              </a:rPr>
              <a:t>1.  How do we construct the path pₜ?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We need an analytically tractable interpolation between p₀ and p₁.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9718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1F2A"/>
                </a:solidFill>
                <a:latin typeface="Arial"/>
              </a:rPr>
              <a:t>2.  How do we derive the field uₜ?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marginal uₜ is generally intractable — it requires integrating over all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434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2628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NEXT: CONDITIONAL FLOW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0060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Construct pₜ and uₜ conditionally on individual data points, then marginalize analytically to recover a tractable training objective.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Conditional Flow Matching: Problem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9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DATA</a:t>
            </a:r>
          </a:p>
        </p:txBody>
      </p:sp>
      <p:pic>
        <p:nvPicPr>
          <p:cNvPr id="7" name="Picture 6" descr="bf45aefe186b56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75" y="2220151"/>
            <a:ext cx="1430944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2926080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8A909C"/>
                </a:solidFill>
                <a:latin typeface="Arial"/>
              </a:rPr>
              <a:t>where q(x) is the unknown data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49039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3803903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749039"/>
            <a:ext cx="48280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Constraint: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we only have sample access — no density evaluation of 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749039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3803903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49039"/>
            <a:ext cx="48280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Goal: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learn a generative model of the data distribution q(x).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Probability Paths and the Flow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DEFINE A PATH</a:t>
            </a:r>
          </a:p>
        </p:txBody>
      </p:sp>
      <p:pic>
        <p:nvPicPr>
          <p:cNvPr id="7" name="Picture 6" descr="e17575d5576e3a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047" y="2156143"/>
            <a:ext cx="2848721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p₀ = p, a simple base distribution, e.g. 𝒩(0, I).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p₁ ≈ q, the target data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54880"/>
            <a:ext cx="4983480" cy="77724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4809744"/>
            <a:ext cx="91440" cy="66751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754880"/>
            <a:ext cx="44165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Interpretation: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a continuous transform from noise to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FLOW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Learn a vector field uₜ(x), tied to the path by the continuity equation:</a:t>
            </a:r>
          </a:p>
        </p:txBody>
      </p:sp>
      <p:pic>
        <p:nvPicPr>
          <p:cNvPr id="16" name="Picture 15" descr="fdf35d93d89a54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361" y="2989708"/>
            <a:ext cx="3208652" cy="4213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6520" y="388620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uₜ transports probability mass through space.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It defines the evolution of the probability path pₜ.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Flow Matching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LEARN A NEURAL FIELD</a:t>
            </a:r>
          </a:p>
        </p:txBody>
      </p:sp>
      <p:pic>
        <p:nvPicPr>
          <p:cNvPr id="7" name="Picture 6" descr="0031ef75a8273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85" y="2201863"/>
            <a:ext cx="1057845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481328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LOSS</a:t>
            </a:r>
          </a:p>
        </p:txBody>
      </p:sp>
      <p:pic>
        <p:nvPicPr>
          <p:cNvPr id="10" name="Picture 9" descr="4138c80e73bcf6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828" y="2125049"/>
            <a:ext cx="4257718" cy="50478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352044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7581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123944"/>
            <a:ext cx="480974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A supervised regression problem.</a:t>
            </a:r>
          </a:p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Target:  vₜ ≈ uₜ.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52044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7398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OPTIMUM BEHAVIOR  (IF Vₜ = Uₜ)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The learned flow exactly reproduces the probability path pₜ.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The final distribution matches the data:  p₁ ≈ q.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This Is Attractive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COMPARED TO CNFS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No likelihood computation.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No ODE solving required during training.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No divergence estimation.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976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805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CORE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75488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Reduces generative modeling to a simple regression objective.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Core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WHAT WE NEED</a:t>
            </a:r>
          </a:p>
        </p:txBody>
      </p:sp>
      <p:pic>
        <p:nvPicPr>
          <p:cNvPr id="7" name="Picture 6" descr="f09dda0be0f693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308" y="2567623"/>
            <a:ext cx="746198" cy="351152"/>
          </a:xfrm>
          <a:prstGeom prst="rect">
            <a:avLst/>
          </a:prstGeom>
        </p:spPr>
      </p:pic>
      <p:pic>
        <p:nvPicPr>
          <p:cNvPr id="8" name="Picture 7" descr="3e213c43f83413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724" y="4030663"/>
            <a:ext cx="759366" cy="351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81328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✗  q(x) is unknown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2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We only have samples, not the density function.</a:t>
            </a:r>
          </a:p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✗  No closed-form pₜ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2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Cannot easily compute the marginal probability path.</a:t>
            </a:r>
          </a:p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✗  No direct access to uₜ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target vector field is intractable to compute globally.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Insight: Go Conditional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USE CONDITIONAL OBJECTS</a:t>
            </a:r>
          </a:p>
        </p:txBody>
      </p:sp>
      <p:pic>
        <p:nvPicPr>
          <p:cNvPr id="7" name="Picture 6" descr="001b5f3bb921b0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766" y="2613343"/>
            <a:ext cx="4240161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3434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343400"/>
            <a:ext cx="1033271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Replace global construction  →  conditional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Conditional Flow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Conditional paths   ·   Marginalization   ·   The CFM theorem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Conditional Probability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91440" cy="7589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81328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For each data sample x₁: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define a conditional probability path pₜ(x | x₁) — one path per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E5484D"/>
                </a:solidFill>
                <a:latin typeface="Arial"/>
              </a:rPr>
              <a:t>BOUNDARY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718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912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 = 0   (NOISE)</a:t>
            </a:r>
          </a:p>
        </p:txBody>
      </p:sp>
      <p:pic>
        <p:nvPicPr>
          <p:cNvPr id="11" name="Picture 10" descr="e085ecbc2f59f2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81" y="3527743"/>
            <a:ext cx="2545852" cy="351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160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the simple base distribution.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9718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31912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 = 1   (DATA)</a:t>
            </a:r>
          </a:p>
        </p:txBody>
      </p:sp>
      <p:pic>
        <p:nvPicPr>
          <p:cNvPr id="15" name="Picture 14" descr="57f42f9246aab0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678" y="3488239"/>
            <a:ext cx="3968018" cy="4301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a tight Gaussian around the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292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Interpretation:  noise  →  a local Gaussian centered at x₁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Marginal Path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70408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MARGINAL PATH</a:t>
            </a:r>
          </a:p>
        </p:txBody>
      </p:sp>
      <p:pic>
        <p:nvPicPr>
          <p:cNvPr id="7" name="Picture 6" descr="c59032a19f45cf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89" y="2309018"/>
            <a:ext cx="4490357" cy="7769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7673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73936"/>
            <a:ext cx="3218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AT  T = 1</a:t>
            </a:r>
          </a:p>
        </p:txBody>
      </p:sp>
      <p:pic>
        <p:nvPicPr>
          <p:cNvPr id="10" name="Picture 9" descr="45b0ca627ce517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782" y="2521903"/>
            <a:ext cx="1887442" cy="3511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2062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38912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63440"/>
            <a:ext cx="10332719" cy="685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The marginal path is a mixture of the per-sample conditional paths, weighted by the data distribution 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Conditional Vector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Each conditional path has an associated vector field that generates it: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8afce081ccda8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48" y="2430463"/>
            <a:ext cx="1408997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429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It satisfies the conditional continuity equation: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8620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1ed68f95da2a0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849" y="4525900"/>
            <a:ext cx="6627995" cy="4213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Marginal Vector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DEFINITION — WEIGHTED AGGREGATION OF CONDITIONAL FIELDS</a:t>
            </a:r>
          </a:p>
        </p:txBody>
      </p:sp>
      <p:pic>
        <p:nvPicPr>
          <p:cNvPr id="7" name="Picture 6" descr="f4496c4712e2a3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798" y="1873396"/>
            <a:ext cx="6088099" cy="8252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017520"/>
            <a:ext cx="54864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2369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EQUIVALENT FORM</a:t>
            </a:r>
          </a:p>
        </p:txBody>
      </p:sp>
      <p:pic>
        <p:nvPicPr>
          <p:cNvPr id="10" name="Picture 9" descr="b51a7650e6a0c5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99" y="3584068"/>
            <a:ext cx="4780057" cy="4213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A posterior-weighted average over candidate data points x₁.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01752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2369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0332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Many x₁ can explain the current state x.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Each x₁ suggests its own direction uₜ(x | x₁).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Combine them with posterior weights p(x₁ | x, 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This Aggregation Is Non-Trivial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NOT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50" b="0" i="0">
                <a:solidFill>
                  <a:srgbClr val="3C4351"/>
                </a:solidFill>
                <a:latin typeface="Arial"/>
              </a:rPr>
              <a:t>Uniform averaging of the conditional fields.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50" b="0" i="0">
                <a:solidFill>
                  <a:srgbClr val="3C4351"/>
                </a:solidFill>
                <a:latin typeface="Arial"/>
              </a:rPr>
              <a:t>Plain (unweighted) simple averaging.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653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aggregated field must preserve the probability flow — the flux — of the underlying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Result: The Marginal Field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5681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MARGINAL FIELD SATISFIES THE CONTINUITY EQUATION</a:t>
            </a:r>
          </a:p>
        </p:txBody>
      </p:sp>
      <p:pic>
        <p:nvPicPr>
          <p:cNvPr id="7" name="Picture 6" descr="fdf35d93d89a54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21" y="2486788"/>
            <a:ext cx="3208652" cy="4213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977639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6052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The posterior-weighted aggregation of the tractable conditional fields generates exactly the marginal path pₜ.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Proof —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STEP 1 · START WITH THE MARGINAL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59032a19f45cf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878" y="2103120"/>
            <a:ext cx="4227937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46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STEP 2 · DEFINE THE AGGREGATED FLUX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118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41b09b0df5b72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266" y="3840479"/>
            <a:ext cx="6443162" cy="731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50292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029200"/>
            <a:ext cx="1033271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Next: take the divergence of both sides — it moves inside the integral.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Proof — Taking the Divergence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9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DERIVATION</a:t>
            </a:r>
          </a:p>
        </p:txBody>
      </p:sp>
      <p:pic>
        <p:nvPicPr>
          <p:cNvPr id="7" name="Picture 6" descr="c891e1a640b10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257" y="1874520"/>
            <a:ext cx="585318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5262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7091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83480"/>
            <a:ext cx="10332719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Rearranging gives the continuity equation  ∂ₜpₜ + ∇·(pₜuₜ) 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Conditional Flow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9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INTRACTABLE — THE MARGINAL OBJECTIVE</a:t>
            </a:r>
          </a:p>
        </p:txBody>
      </p:sp>
      <p:pic>
        <p:nvPicPr>
          <p:cNvPr id="7" name="Picture 6" descr="4138c80e73bcf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988" y="2170769"/>
            <a:ext cx="4257718" cy="5047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↓   uₜ(x) is hard to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0332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9227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TRACTABLE — THE CONDITIONAL OBJECTIVE</a:t>
            </a:r>
          </a:p>
        </p:txBody>
      </p:sp>
      <p:pic>
        <p:nvPicPr>
          <p:cNvPr id="11" name="Picture 10" descr="60a5cd472c2677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383" y="4273889"/>
            <a:ext cx="5578928" cy="5047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uₜ(x | x₁) is known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1F2A"/>
                </a:solidFill>
                <a:latin typeface="Georgia"/>
              </a:rPr>
              <a:t>The Optimal Flow Matching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Theorem.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two objectives have identical gradients with respect to the parameters θ: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91c8b1609eec4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980" y="2366455"/>
            <a:ext cx="3919735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33756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5570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PROOF SKETCH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Expand the squared norm in L_CFM.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Use E[ uₜ(x | x₁) | x ] = uₜ(x) — the posterior weighting appears automatically.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The target-norm term is independent of 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33756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5570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0690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Optimizing the tractable conditional loss exactly optimizes the intractable marginal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Gaussian Paths &amp; the Closed-Form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Affine flow   ·   Theorem 3   ·   The CFM objective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Conditional Probability Paths (Gaussian)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 TRACTABLE GAUSSIAN CONDITIONAL PATH</a:t>
            </a:r>
          </a:p>
        </p:txBody>
      </p:sp>
      <p:pic>
        <p:nvPicPr>
          <p:cNvPr id="7" name="Picture 6" descr="74aabb277780de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084251"/>
            <a:ext cx="10515600" cy="4034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1546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3741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AT  T = 0</a:t>
            </a:r>
          </a:p>
        </p:txBody>
      </p:sp>
      <p:pic>
        <p:nvPicPr>
          <p:cNvPr id="10" name="Picture 9" descr="55f7af1c2d93bf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621" y="3660514"/>
            <a:ext cx="3489573" cy="3599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297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begins as the simple base distribution.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1546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3741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AT  T = 1</a:t>
            </a:r>
          </a:p>
        </p:txBody>
      </p:sp>
      <p:pic>
        <p:nvPicPr>
          <p:cNvPr id="14" name="Picture 13" descr="c0aaacb55c27d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908" y="3625399"/>
            <a:ext cx="4323559" cy="430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4297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a tight Gaussian around the data sample.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20"/>
            <a:ext cx="10332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Each path transports pure noise toward a local Gaussian centered at the sample x₁.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Non-Uniqueness of Vector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A probability path fixes how density changes — but it does </a:t>
            </a:r>
            <a:r>
              <a:rPr sz="1350" b="1" i="1">
                <a:solidFill>
                  <a:srgbClr val="1B1F2A"/>
                </a:solidFill>
                <a:latin typeface="Arial"/>
              </a:rPr>
              <a:t>not</a:t>
            </a:r>
            <a:r>
              <a:rPr sz="1350" b="0" i="0">
                <a:solidFill>
                  <a:srgbClr val="3C4351"/>
                </a:solidFill>
                <a:latin typeface="Arial"/>
              </a:rPr>
              <a:t> uniquely determine the velocity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7e832ad0a2cab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394862"/>
            <a:ext cx="10515600" cy="3674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4564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675887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41648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Continuity sees only the divergence of the flux.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34564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675887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EXTRA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041648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Divergence-free flux circulates mass without changing pₜ.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34564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3675887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NEED A CONVENTION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4041648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Pick a canonical field that is simple and computable.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74920"/>
            <a:ext cx="11064240" cy="73152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5129783"/>
            <a:ext cx="91440" cy="62179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074920"/>
            <a:ext cx="1049731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Motivation: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CFM pairs each Gaussian path with the simplest canonical vector field, not any equivalent field.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Canonical Flow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9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DEFINE AN AFFINE FLOW</a:t>
            </a:r>
          </a:p>
        </p:txBody>
      </p:sp>
      <p:pic>
        <p:nvPicPr>
          <p:cNvPr id="7" name="Picture 6" descr="999eed0dd1a01a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00" y="2201863"/>
            <a:ext cx="3853894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20040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419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PROPERTY</a:t>
            </a:r>
          </a:p>
        </p:txBody>
      </p:sp>
      <p:pic>
        <p:nvPicPr>
          <p:cNvPr id="10" name="Picture 9" descr="81b5b6b74058d7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68" y="3735127"/>
            <a:ext cx="7554158" cy="43016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463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84632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The flow directly constructs the Gaussian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Vector Field from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The flow induces a vector field through its own time derivative: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876e342e999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46" y="2563954"/>
            <a:ext cx="3643202" cy="7242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297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805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754880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Find a closed-form expression for the conditional field uₜ(x | x₁).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Result  (Theorem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0d897d5c696c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346" y="1964836"/>
            <a:ext cx="6211002" cy="8252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383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6027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SCALING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The first term expands or contracts points relative to the mean, governed by the rate of change of σₜ.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383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6027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TRANSLATION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The second term shifts the whole distribution in space, following the drift of the mean μₜ.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Proof Sketch — Deriving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Differentiate the affine flow, then re-express in terms of the current 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4eacb8be77cb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00" y="2787079"/>
            <a:ext cx="3853894" cy="351152"/>
          </a:xfrm>
          <a:prstGeom prst="rect">
            <a:avLst/>
          </a:prstGeom>
        </p:spPr>
      </p:pic>
      <p:pic>
        <p:nvPicPr>
          <p:cNvPr id="8" name="Picture 7" descr="bf78c0b28cb534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855" y="3643687"/>
            <a:ext cx="4147983" cy="430161"/>
          </a:xfrm>
          <a:prstGeom prst="rect">
            <a:avLst/>
          </a:prstGeom>
        </p:spPr>
      </p:pic>
      <p:pic>
        <p:nvPicPr>
          <p:cNvPr id="9" name="Picture 8" descr="f02761373554f8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113" y="4389120"/>
            <a:ext cx="4019468" cy="731520"/>
          </a:xfrm>
          <a:prstGeom prst="rect">
            <a:avLst/>
          </a:prstGeom>
        </p:spPr>
      </p:pic>
      <p:pic>
        <p:nvPicPr>
          <p:cNvPr id="10" name="Picture 9" descr="7cfd155c71b56d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919" y="5285232"/>
            <a:ext cx="5505855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91656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Since the current position is arbitrary, the identity holds for every 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CFM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6c0eda4e5a5e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61" y="2296218"/>
            <a:ext cx="6803571" cy="7110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1148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29768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572000"/>
            <a:ext cx="103327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Train directly on the known velocities of the constructed paths.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Big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E5484D"/>
                </a:solidFill>
                <a:latin typeface="Arial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B5BD6"/>
                </a:solidFill>
                <a:latin typeface="Arial"/>
              </a:rPr>
              <a:t>Define conditional Gaussian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For each sample x₁, construct a tractable path pₜ(x | x₁) from noise toward the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544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28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E5484D"/>
                </a:solidFill>
                <a:latin typeface="Arial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B5BD6"/>
                </a:solidFill>
                <a:latin typeface="Arial"/>
              </a:rPr>
              <a:t>Derive closed-form vector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1546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The conditional velocity uₜ(x | x₁) is exactly computable along the constructed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544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828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E5484D"/>
                </a:solidFill>
                <a:latin typeface="Arial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B5BD6"/>
                </a:solidFill>
                <a:latin typeface="Arial"/>
              </a:rPr>
              <a:t>Train by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31546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Fit vₜ(t, x) to the known velocities with the CFM loss — no likelihood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0352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Conditional construction turns generative modeling into supervised vector-field learning — a scalable training procedure.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One-Line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103327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Gaussian conditional paths give a simple affine flow with an exactly computable velocity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f4a99c6a35836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81" y="2988964"/>
            <a:ext cx="8559331" cy="8252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3434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SIMPLE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The conditional transport is affine in the base sample.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43434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EXACT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9377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The velocity target is available without simulation.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43434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EFFICIENT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49377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Flow Matching becomes direct vector-field regression.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Diffusion as a Special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General formulation   ·   VE &amp; VP   ·   Probability-flow ODE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Flow Matching with Diffusion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C4351"/>
                </a:solidFill>
                <a:latin typeface="Arial"/>
              </a:rPr>
              <a:t>Flow Matching is a framework for the </a:t>
            </a:r>
            <a:r>
              <a:rPr sz="1500" b="1" i="0">
                <a:solidFill>
                  <a:srgbClr val="5B5BD6"/>
                </a:solidFill>
                <a:latin typeface="Arial"/>
              </a:rPr>
              <a:t>design of probability paths</a:t>
            </a:r>
            <a:r>
              <a:rPr sz="1500" b="0" i="0">
                <a:solidFill>
                  <a:srgbClr val="3C4351"/>
                </a:solidFill>
                <a:latin typeface="Arial"/>
              </a:rPr>
              <a:t> — and diffusion is one instance.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597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FLEXIBLE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889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Flow Matching allows flexible design of the probability path connecting noise to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204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739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RECOVERS 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069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Standard diffusion processes arise as a special case of this design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006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0200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GOES BEYOND DIFFUSION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349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It also enables non-diffusion paths, such as Optimal Transport.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General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CONDITIONAL GAUSSIAN PATHS</a:t>
            </a:r>
          </a:p>
        </p:txBody>
      </p:sp>
      <p:pic>
        <p:nvPicPr>
          <p:cNvPr id="7" name="Picture 6" descr="ce60ce9b51d94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76" y="2052631"/>
            <a:ext cx="5407741" cy="4301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108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3284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DESIGN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Mean schedule  μₜ(x₁).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Standard-deviation schedule  σₜ(x₁).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108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3284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CORE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9476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Both must be smooth functions of t.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Boundary: t = 0 is noise, t = 1 is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1663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166360"/>
            <a:ext cx="103327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⇒  a fully flexible design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Idea: Direct Probability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00200"/>
            <a:ext cx="1033271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Flow Matching works directly with probability paths.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E5484D"/>
                </a:solidFill>
                <a:latin typeface="Arial"/>
              </a:rPr>
              <a:t>No need to derive them from diffusion SDEs.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290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648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Reproduce standard diffusion paths exactly.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4290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648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Build entirely new paths, e.g. Optimal Transport.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Diffusion Paths as a Special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Diffusion models define a reverse process: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17904"/>
            <a:ext cx="1645920" cy="566928"/>
          </a:xfrm>
          <a:prstGeom prst="roundRect">
            <a:avLst>
              <a:gd name="adj" fmla="val 2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17904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1F2A"/>
                </a:solidFill>
                <a:latin typeface="Arial"/>
              </a:rPr>
              <a:t>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51790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E5484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517904"/>
            <a:ext cx="1645920" cy="566928"/>
          </a:xfrm>
          <a:prstGeom prst="roundRect">
            <a:avLst>
              <a:gd name="adj" fmla="val 20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1F2A"/>
                </a:solidFill>
                <a:latin typeface="Arial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688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THESE CORRESPOND TO SPECIFIC CHOICES OF</a:t>
            </a:r>
          </a:p>
        </p:txBody>
      </p:sp>
      <p:pic>
        <p:nvPicPr>
          <p:cNvPr id="13" name="Picture 12" descr="896e870d1019b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391" y="3116263"/>
            <a:ext cx="5916912" cy="3511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2519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5196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Result:  the conditional paths are exactly Gaussian.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Example: Variance Exploding (VE)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PATH</a:t>
            </a:r>
          </a:p>
        </p:txBody>
      </p:sp>
      <p:pic>
        <p:nvPicPr>
          <p:cNvPr id="7" name="Picture 6" descr="5d94ebc0d8806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63" y="1979479"/>
            <a:ext cx="4485967" cy="4301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92608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455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PARAMETERS</a:t>
            </a:r>
          </a:p>
        </p:txBody>
      </p:sp>
      <p:pic>
        <p:nvPicPr>
          <p:cNvPr id="10" name="Picture 9" descr="0be94826b18fb9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75" y="3482023"/>
            <a:ext cx="4363064" cy="3511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292608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1455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VECTOR FIELD</a:t>
            </a:r>
          </a:p>
        </p:txBody>
      </p:sp>
      <p:pic>
        <p:nvPicPr>
          <p:cNvPr id="13" name="Picture 12" descr="d8d72d5ea8a429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54" y="3268980"/>
            <a:ext cx="4100466" cy="7772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6634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66344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Points move toward x₁ with a time-dependent scaling.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Example: Variance Preserving (VP)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PATH</a:t>
            </a:r>
          </a:p>
        </p:txBody>
      </p:sp>
      <p:pic>
        <p:nvPicPr>
          <p:cNvPr id="7" name="Picture 6" descr="93ac6bbd5eddb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72" y="1997767"/>
            <a:ext cx="6149550" cy="4301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97180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912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PARAMETERS</a:t>
            </a:r>
          </a:p>
        </p:txBody>
      </p:sp>
      <p:pic>
        <p:nvPicPr>
          <p:cNvPr id="10" name="Picture 9" descr="8d7e902763d2e2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" y="3496320"/>
            <a:ext cx="4937760" cy="5054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297180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1912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VECTOR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A more complex form, depending on x, x₁, and time 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8463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84632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Result:  matches standard VP diffusion dynamics.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Same Dynamics as the Probability-Flow 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3C4351"/>
                </a:solidFill>
                <a:latin typeface="Arial"/>
              </a:rPr>
              <a:t>These conditional vector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057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a8c29761fcf7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48" y="2430463"/>
            <a:ext cx="1408997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383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3C4351"/>
                </a:solidFill>
                <a:latin typeface="Arial"/>
              </a:rPr>
              <a:t>exactly match the </a:t>
            </a:r>
            <a:r>
              <a:rPr sz="1500" b="1" i="0">
                <a:solidFill>
                  <a:srgbClr val="5B5BD6"/>
                </a:solidFill>
                <a:latin typeface="Arial"/>
              </a:rPr>
              <a:t>probability-flow ODE</a:t>
            </a:r>
            <a:r>
              <a:rPr sz="1500" b="0" i="0">
                <a:solidFill>
                  <a:srgbClr val="3C4351"/>
                </a:solidFill>
                <a:latin typeface="Arial"/>
              </a:rPr>
              <a:t> of diffusion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43400"/>
            <a:ext cx="9418320" cy="91440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39826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2496" y="4343400"/>
            <a:ext cx="8851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Same dynamics as: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score-based diffusion (Song et al., 2021) — the deterministic sampler is one and the same 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[9]  Song et al., 2021 — Score-Based Generative Modeling through SDEs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Same Field, Different Training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Flow Matching uses the same vector field as diffusion — but optimizes a different objective.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76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DIFFUSION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1F2A"/>
                </a:solidFill>
                <a:latin typeface="Arial"/>
              </a:rPr>
              <a:t>Score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0574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76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FLOW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432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1F2A"/>
                </a:solidFill>
                <a:latin typeface="Arial"/>
              </a:rPr>
              <a:t>Vector-Field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68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FLOW MATCHING PROVIDES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More stable training.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More robust optimization.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F2A"/>
                </a:solidFill>
                <a:latin typeface="Georgia"/>
              </a:rPr>
              <a:t>Limitation of Diffusion, Advantage of FM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96012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91440" cy="8503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1049731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Theoretical issue: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diffusion processes do not reach exact noise in finite time — in practice they must rely on approximations.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THE FLOW MATCHING FRAMEWORK ENABLES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52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200400"/>
            <a:ext cx="10149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Exact path design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Specify the probability path directly, with no SDE approximation.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096511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9651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4041648"/>
            <a:ext cx="10149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More flexibility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Freely choose mean and variance schedules.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93775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3775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882896"/>
            <a:ext cx="10149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Better alternatives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Adopt geometry-driven paths such as Optimal Transport.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Optimal Transport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Straight-line transport   ·   OT flow map   ·   Diffusion vs OT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Two Views of the Vector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EULERIAN VIEW</a:t>
            </a:r>
          </a:p>
        </p:txBody>
      </p:sp>
      <p:pic>
        <p:nvPicPr>
          <p:cNvPr id="7" name="Picture 6" descr="f8afce081ccda8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09" y="2110423"/>
            <a:ext cx="1408997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788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defined globally at any point 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81328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LAGRANGIAN VIEW</a:t>
            </a:r>
          </a:p>
        </p:txBody>
      </p:sp>
      <p:pic>
        <p:nvPicPr>
          <p:cNvPr id="11" name="Picture 10" descr="a21d2ede537a3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782" y="2070919"/>
            <a:ext cx="1237811" cy="4301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2788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velocity along a specific trajectory.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03320"/>
            <a:ext cx="11064240" cy="196596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04487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The Key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4572000"/>
            <a:ext cx="10058400" cy="82295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8177636747755e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18" y="4709160"/>
            <a:ext cx="3042458" cy="5486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Training Uses the Derivative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INSTEAD OF THE GLOBAL FIELD</a:t>
            </a:r>
          </a:p>
        </p:txBody>
      </p:sp>
      <p:pic>
        <p:nvPicPr>
          <p:cNvPr id="7" name="Picture 6" descr="3e213c43f83413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24" y="2201863"/>
            <a:ext cx="759366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15468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3741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USE THE TRAJECTORY VELOCITY</a:t>
            </a:r>
          </a:p>
        </p:txBody>
      </p:sp>
      <p:pic>
        <p:nvPicPr>
          <p:cNvPr id="10" name="Picture 9" descr="a21d2ede537a3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502" y="3762559"/>
            <a:ext cx="1237811" cy="4301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36208" y="16276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WHY — THREE CHEAP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665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665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2011680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Sample noise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Draw x₀ ∼ 𝒩(0, 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9077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077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852928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Compute position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Evaluate ψₜ(x₀) along the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3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3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694176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Differentiate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Read the velocity off directly — no global solve.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From Flow to Field — the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Differentiate the OT flow, invert for the base point, and substitute.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e955b978cf18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171" y="2751964"/>
            <a:ext cx="5403352" cy="421382"/>
          </a:xfrm>
          <a:prstGeom prst="rect">
            <a:avLst/>
          </a:prstGeom>
        </p:spPr>
      </p:pic>
      <p:pic>
        <p:nvPicPr>
          <p:cNvPr id="8" name="Picture 7" descr="46b532b423bf40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837" y="3643687"/>
            <a:ext cx="4464020" cy="430161"/>
          </a:xfrm>
          <a:prstGeom prst="rect">
            <a:avLst/>
          </a:prstGeom>
        </p:spPr>
      </p:pic>
      <p:pic>
        <p:nvPicPr>
          <p:cNvPr id="9" name="Picture 8" descr="f3f1df89d4060a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211" y="4389120"/>
            <a:ext cx="5219271" cy="731520"/>
          </a:xfrm>
          <a:prstGeom prst="rect">
            <a:avLst/>
          </a:prstGeom>
        </p:spPr>
      </p:pic>
      <p:pic>
        <p:nvPicPr>
          <p:cNvPr id="10" name="Picture 9" descr="b6a0a88344ee1b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331" y="5285232"/>
            <a:ext cx="4035033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91656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Global field and trajectory velocity are two representations of the same object.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Optimal Transport Conditional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Choose linear schedules: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854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MEAN SCHEDULE</a:t>
            </a:r>
          </a:p>
        </p:txBody>
      </p:sp>
      <p:pic>
        <p:nvPicPr>
          <p:cNvPr id="8" name="Picture 7" descr="1ebf3601e2797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39" y="2613343"/>
            <a:ext cx="1931336" cy="351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96596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854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STD-DEV SCHEDULE</a:t>
            </a:r>
          </a:p>
        </p:txBody>
      </p:sp>
      <p:pic>
        <p:nvPicPr>
          <p:cNvPr id="11" name="Picture 10" descr="6580ee9bab89ca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13" y="2613343"/>
            <a:ext cx="3748548" cy="3511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023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2336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⇒  leads to the simple vector field derived previously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OT Flow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1109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FLOW MAP</a:t>
            </a:r>
          </a:p>
        </p:txBody>
      </p:sp>
      <p:pic>
        <p:nvPicPr>
          <p:cNvPr id="7" name="Picture 6" descr="308bde678e652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384" y="2395348"/>
            <a:ext cx="5082926" cy="4213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6576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8770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STRAIGHT-LINE INTERPOLATION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Each point follows a constant-velocity line from noise toward the sample.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6576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8770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CONTROLLED SHRINKAGE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4348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The noise component contracts smoothly as t increases toward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OT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91440" cy="7589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This flow is the Optimal Transport displacement map: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mass is moved along geodesics in Euclidean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5176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496553651a6bb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732" y="3096142"/>
            <a:ext cx="3880230" cy="4828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42519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4714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KEY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Particles move in straight lines.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transport direction is constant along the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Insight: Simplest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103327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OT paths define the simplest possible motion between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Samples travel along straight lines, avoiding curved or diffusive trajectories.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74320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VELOCITY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47472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The transport direction stays constant along each conditional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74320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3017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347472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Flow Matching learns a more direct field from an easier regression target.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Final Training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482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CFM LOSS FUNCTION</a:t>
            </a:r>
          </a:p>
        </p:txBody>
      </p:sp>
      <p:pic>
        <p:nvPicPr>
          <p:cNvPr id="7" name="Picture 6" descr="357e933506fda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556" y="2475077"/>
            <a:ext cx="7378582" cy="6276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1605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6052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 single MSE regression onto a known, closed-form target velocity.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Visual Intuition</a:t>
            </a:r>
          </a:p>
        </p:txBody>
      </p:sp>
      <p:pic>
        <p:nvPicPr>
          <p:cNvPr id="5" name="Picture 4" descr="traj_diff_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708" y="1554480"/>
            <a:ext cx="5314277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251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COMPARING TRAJECTORIES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6634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Left (Diffusion): curved trajectories that bend toward the target.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Right (Optimal Transport): straight, direct paths to the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OT Paths Are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Compared to traditional diffusion models: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DIFFUSION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Curved, complex trajectories.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Can overshoot the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2024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OPTIMAL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Straight-line motion.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backtracking.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Simpler, stable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89204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Diffusion = density-driven flow      ·      OT = geometry-driven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 Rotation and Conditional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VP FIELD ROTATES OVER TIME</a:t>
            </a:r>
          </a:p>
        </p:txBody>
      </p:sp>
      <p:pic>
        <p:nvPicPr>
          <p:cNvPr id="7" name="Picture 6" descr="419ecef286be11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19" y="2156143"/>
            <a:ext cx="3687096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880360"/>
            <a:ext cx="4800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The coefficients a(t) and b(t) change over time.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Early on one term dominates; later the other does.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The direction rotates  ⇒  curved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81328"/>
            <a:ext cx="568756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00784"/>
            <a:ext cx="5138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VE VS VP CONDITIONAL PATHS</a:t>
            </a:r>
          </a:p>
        </p:txBody>
      </p:sp>
      <p:pic>
        <p:nvPicPr>
          <p:cNvPr id="11" name="Picture 10" descr="ve_vp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749" y="2103120"/>
            <a:ext cx="4456981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4768" y="502920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VE: straight lines to the target.   VP: rotation and curvature near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FLOW MATCHING UNIFIES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E5484D"/>
                </a:solidFill>
                <a:latin typeface="Arial"/>
              </a:rPr>
              <a:t>+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Diffusion models (VE / VP) — recovered as special cases.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1" i="0">
                <a:solidFill>
                  <a:srgbClr val="E5484D"/>
                </a:solidFill>
                <a:latin typeface="Arial"/>
              </a:rPr>
              <a:t>+  </a:t>
            </a:r>
            <a:r>
              <a:rPr sz="1500" b="0" i="0">
                <a:solidFill>
                  <a:srgbClr val="3C4351"/>
                </a:solidFill>
                <a:latin typeface="Arial"/>
              </a:rPr>
              <a:t>General probability paths — including Optimal Transport.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690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519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2628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Learn vector fields directly from chosen probability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Results from the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Lipman et al., 2022 — Flow Matching for Generative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ImageNet &amp; CIFAR-10   ·   Sampling efficiency   ·   Super-resolution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Experimental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48840"/>
            <a:ext cx="3154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CIFAR-10.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ImageNet at 32×32, 64×64, and 128×128.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Unconditional generation (plus a super-resolution study).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481328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0078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148840"/>
            <a:ext cx="3154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NLL — negative log-likelihood, in bits/dim (↓).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FID — Fréchet Inception Distance (↓).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NFE — number of function evaluations (↓).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481328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70078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48840"/>
            <a:ext cx="3154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One shared U-Net (Dhariwal &amp; Nichol) across all losses.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dopri5 adaptive solver, tolerance 1e-5.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FID / NFE averaged over 50k samples.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377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93776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Ablation: same model, swapping the loss — DDPM · Score Matching · ScoreFlow · FM (diffusion) · FM (OT).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— Flow Matching for Generative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Result: Likelihood, Quality &amp; Sampling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Same architecture, different training losses — lower is better on every metric.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6424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60804"/>
            <a:ext cx="11064240" cy="38404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60804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860804"/>
            <a:ext cx="2926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5BD6"/>
                </a:solidFill>
                <a:latin typeface="Arial"/>
              </a:rPr>
              <a:t>CIFAR-10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7" y="1860804"/>
            <a:ext cx="2926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5BD6"/>
                </a:solidFill>
                <a:latin typeface="Arial"/>
              </a:rPr>
              <a:t>ImageNet 32×32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860804"/>
            <a:ext cx="2926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5BD6"/>
                </a:solidFill>
                <a:latin typeface="Arial"/>
              </a:rPr>
              <a:t>ImageNet 64×64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NLL↓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828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FID↓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364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NFE↓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7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NLL↓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4367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FID↓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972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NFE↓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NLL↓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044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FID↓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5808" y="2244852"/>
            <a:ext cx="975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A909C"/>
                </a:solidFill>
                <a:latin typeface="Arial"/>
              </a:rPr>
              <a:t>NFE↓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55748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55748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F2A"/>
                </a:solidFill>
                <a:latin typeface="Arial"/>
              </a:rPr>
              <a:t>DDPM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828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7.48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364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7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4367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6.99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972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044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17.36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5808" y="2555748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976372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976372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F2A"/>
                </a:solidFill>
                <a:latin typeface="Arial"/>
              </a:rPr>
              <a:t>Score 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828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19.94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364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007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4367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5.68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972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044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19.74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5808" y="2976372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441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396996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396996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F2A"/>
                </a:solidFill>
                <a:latin typeface="Arial"/>
              </a:rPr>
              <a:t>ScoreFlow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292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828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20.78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364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428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7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4367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14.14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972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044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24.95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5808" y="3396996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601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3817620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3817620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F2A"/>
                </a:solidFill>
                <a:latin typeface="Arial"/>
              </a:rPr>
              <a:t>FM w/ Diffusion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2828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8.06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364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79007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3.54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54367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6.37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972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193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3.33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8044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16.88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5808" y="3817620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187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238244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" y="4238244"/>
            <a:ext cx="11064240" cy="420624"/>
          </a:xfrm>
          <a:prstGeom prst="rect">
            <a:avLst/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238244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FM w/ 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2.99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2828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6.35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364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142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79007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3.53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54367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5.02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972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122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0508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3.31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8044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14.45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55808" y="4238244"/>
            <a:ext cx="975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5BD6"/>
                </a:solidFill>
                <a:latin typeface="Arial"/>
              </a:rPr>
              <a:t>138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4658868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6928" y="4658868"/>
            <a:ext cx="1106424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66928" y="5074920"/>
            <a:ext cx="11064240" cy="77724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66928" y="5129783"/>
            <a:ext cx="91440" cy="66751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7824" y="5074920"/>
            <a:ext cx="104973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FM with OT wins across the board: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best NLL, FID and NFE on CIFAR-10 and ImageNet 32/64 — fewer solver steps for better samples and likelihood.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   ·    baselines: [8] DDPM, [9] Score Matching, [10] ScoreFlow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1F2A"/>
                </a:solidFill>
                <a:latin typeface="Georgia"/>
              </a:rPr>
              <a:t>Result: ImageNet 128×128 — Near State of the 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UNCONDITIONAL SAMPLES</a:t>
            </a:r>
          </a:p>
        </p:txBody>
      </p:sp>
      <p:pic>
        <p:nvPicPr>
          <p:cNvPr id="7" name="Picture 6" descr="fig1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89763"/>
            <a:ext cx="5029200" cy="37527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9360" y="1600200"/>
            <a:ext cx="530352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32204"/>
            <a:ext cx="530352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32204"/>
            <a:ext cx="2125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8992" y="1632204"/>
            <a:ext cx="1122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NLL↓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376" y="1632204"/>
            <a:ext cx="1122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FID↓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9404"/>
            <a:ext cx="212585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Self-cond. 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8992" y="2089404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376" y="2089404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41.7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01468"/>
            <a:ext cx="530352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01468"/>
            <a:ext cx="212585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Uncond. BigGAN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8992" y="2601468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376" y="2601468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25.3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113532"/>
            <a:ext cx="530352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13532"/>
            <a:ext cx="212585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PGMGAN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8992" y="3113532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376" y="3113532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25596"/>
            <a:ext cx="530352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25596"/>
            <a:ext cx="212585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FM w/ 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8992" y="3625596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2.90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376" y="3625596"/>
            <a:ext cx="11224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20.9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37660"/>
            <a:ext cx="530352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137660"/>
            <a:ext cx="530352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4526280"/>
            <a:ext cx="5303520" cy="10972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4581144"/>
            <a:ext cx="91440" cy="9875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4526280"/>
            <a:ext cx="473659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State-of-the-art FID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among comparable methods — and the only one here that also reports a likelihood.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   ·    U-Net architecture: Dhariwal &amp; Nichol [11]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Result: Faster, Cheaper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3949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IMAGENET 128×128 TRAINING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5B5BD6"/>
                </a:solidFill>
                <a:latin typeface="Georgia"/>
              </a:rPr>
              <a:t>4.36M  →  500K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iterations vs Dhariwal &amp; Nichol — about 33% less image throughput, even with a 25% larger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81328"/>
            <a:ext cx="53949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CONVERGENCE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FM-OT lowers FID faster and further than DDPM, SM and ScoreFlow.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Baselines such as ScoreFlow / VDM report 1.3M–10M iterations.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77639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16052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SAMPLING COST STAYS CONSTANT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3484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With Flow Matching the per-sample NFE is roughly fixed throughout training, whereas for score matching it drifts upward as training proceeds.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— Flow Matching for Generative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Result: Straighter Sample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SAME INITIAL NOISE, IMAGENET 64×64  ·  SCORE MATCHING · FM-DIFFUSION · FM-OT</a:t>
            </a:r>
          </a:p>
        </p:txBody>
      </p:sp>
      <p:pic>
        <p:nvPicPr>
          <p:cNvPr id="7" name="Picture 6" descr="fig6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" y="2142822"/>
            <a:ext cx="10927080" cy="12373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977639"/>
            <a:ext cx="11064240" cy="137160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4032503"/>
            <a:ext cx="91440" cy="126187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977639"/>
            <a:ext cx="1049731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OT reduces noise roughly linearly: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OT-path model starts forming the image early in the trajectory, while diffusion paths keep it buried in noise until the very last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— Flow Matching for Generative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Result: More Efficient Sampling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44752"/>
            <a:ext cx="110642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642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IMAGENET 32×32  ·  ERROR AND FID VS NUMBER OF FUNCTION EVALUATIONS</a:t>
            </a:r>
          </a:p>
        </p:txBody>
      </p:sp>
      <p:pic>
        <p:nvPicPr>
          <p:cNvPr id="7" name="Picture 6" descr="fig7_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027934"/>
            <a:ext cx="10515600" cy="1979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48006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FM-OT reaches the same numerical error using roughly 60% of the NFEs of diffusion models.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It attains good FID even at very low NFE — the best quality-vs-cost trade-off, across every ODE solver.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— Flow Matching for Generative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Result: Conditional Super-Resolution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Upsampling ImageNet images from 64×64 to 256×256 — evaluation protocol of Saharia et al. (2022).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1106424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52244"/>
            <a:ext cx="1106424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52244"/>
            <a:ext cx="28503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1019" y="1952244"/>
            <a:ext cx="166486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FID↓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6776" y="1952244"/>
            <a:ext cx="166486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IS↑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2533" y="1952244"/>
            <a:ext cx="166486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PSNR↑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38290" y="1952244"/>
            <a:ext cx="166486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SSIM↑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09444"/>
            <a:ext cx="28503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1019" y="2409444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6776" y="2409444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240.8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2533" y="2409444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8290" y="2409444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921508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921508"/>
            <a:ext cx="28503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1019" y="2921508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15.2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776" y="2921508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121.1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2533" y="2921508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27.9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290" y="2921508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0.801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433572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433572"/>
            <a:ext cx="28503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SR3 (Saharia et al.)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1019" y="3433572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5.2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6776" y="3433572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180.1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2533" y="3433572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26.4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290" y="3433572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0.762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945636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945636"/>
            <a:ext cx="28503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FM w/ 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1019" y="3945636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3.4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6776" y="3945636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200.8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2533" y="3945636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24.7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8290" y="3945636"/>
            <a:ext cx="16648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0.747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457700"/>
            <a:ext cx="1106424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457700"/>
            <a:ext cx="1106424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5038344"/>
            <a:ext cx="91440" cy="7589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983480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FM-OT improves FID and IS over SR3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with comparable PSNR / SSIM — and FID / IS better reflect perceptual generation quality.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   ·    protocol &amp; SR3 baseline: Saharia et al. [12]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Results —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WHAT THE EXPERIMENTS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Best NLL, FID and NFE across CIFAR-10 and ImageNet-32/64 versus diffusion losses on the same model.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Near state-of-the-art FID on ImageNet-128 with substantially less training.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OT paths give straight, constant-speed trajectories → fewer NFEs and faster, more reliable sampling.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The framework extends cleanly to conditional generation (super-resolution).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006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80060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OT-path Flow Matching: better samples, better likelihood, cheaper sampling — same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Lipman et al., 2022 — Flow Matching for Generative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[1]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Lipman, Chen, Ben-Hamu, Nickel &amp; Le — Flow Matching for Generative Modeling. ICLR 2023.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[2]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Chen, Rubanova, Bettencourt &amp; Duvenaud — Neural Ordinary Differential Equations. NeurIPS 2018.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[3]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Grathwohl, Chen, Bettencourt, Sutskever &amp; Duvenaud — FFJORD: Scalable Reversible Generative Models. ICLR 2019.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[4]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Rezende &amp; Mohamed — Variational Inference with Normalizing Flows. ICML 2015.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[5]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Dinh, Sohl-Dickstein &amp; Bengio — Density Estimation using Real NVP. ICLR 2017.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[6]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Kingma &amp; Dhariwal — Glow: Generative Flow with Invertible 1×1 Convolutions. NeurIPS 2018.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27632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[7]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Papamakarios, Pavlakou &amp; Murray — Masked Autoregressive Flow for Density Estimation. NeurIPS 2017.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[8]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Ho, Jain &amp; Abbeel — Denoising Diffusion Probabilistic Models. NeurIPS 2020.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[9]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Song, Sohl-Dickstein, Kingma, Kumar, Ermon &amp; Poole — Score-Based Generative Modeling through SDEs. ICLR 2021.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[10]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Song, Durkan, Murray &amp; Ermon — Maximum Likelihood Training of Score-Based Diffusion Models. NeurIPS 2021.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[11]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Dhariwal &amp; Nichol — Diffusion Models Beat GANs on Image Synthesis. NeurIPS 2021.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[12]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Saharia et al. — Image Super-Resolution via Iterative Refinement (SR3). IEEE TPAMI 2022.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77 / 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